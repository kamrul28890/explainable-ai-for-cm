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0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How the Model Handles Each Safety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29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C7D6E8"/>
                </a:solidFill>
                <a:latin typeface="Calibri"/>
              </a:rPr>
              <a:t>A Class-by-Class Walkthrough: Results, Working Examples, Failure Cases, and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FB8D6"/>
                </a:solidFill>
                <a:latin typeface="Calibri"/>
              </a:rPr>
              <a:t>Construction-Safety VLM XAI Pilot -- 163-image trial, Florence-2-base-ft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Four Safety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5A5A"/>
                </a:solidFill>
                <a:latin typeface="Calibri"/>
              </a:rPr>
              <a:t>Every image is checked against one of four rules. Each rule maps to a hazard class the dataset itself labels.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03120"/>
                <a:gridCol w="5486400"/>
                <a:gridCol w="2468880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Hazard class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What it checks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Logic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rule_1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ppe_violation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Basic PPE present (hard hat / hi-vis vest)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presence, tight (0.08)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rule_2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fall_hazard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Fall protection (harness / lanyard) at height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presence, tight (0.08)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rule_3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fall_hazard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Edge protection (guardrail) at height / excavation edge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presence, loose (0.20)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rule_4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struck_by_risk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Worker inside an excavator's blind spot / swing radius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proximity, inverted (0.05)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(none)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Every applicable rule satisfied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n/a -- round-robin tested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"Presence" rules (1-3): the safety object must be CLOSE to the worker to count as compliant.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Rule_4 is INVERTED: being close to the excavator is the hazard, not the safe state.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Thresholds are fractions of the image's largest dimension -- tighter for worn PPE, looser for structural barriers.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a Class Becomes a Question Florence-2 Can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202024"/>
                </a:solidFill>
                <a:latin typeface="Calibri"/>
              </a:rPr>
              <a:t>•  Florence-2 has no yes/no question mode -- it can only be given a phrase and asked to draw boxes.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202024"/>
                </a:solidFill>
                <a:latin typeface="Calibri"/>
              </a:rPr>
              <a:t>•  So every rule is converted into: detect two things independently -&gt; measure the gap between their boxes -&gt; apply a geometric threshold.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7432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474720"/>
                <a:gridCol w="539496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Class / rule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What we ask Florence-2 to find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How the verdict is computed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ppe_violation (rule_1)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"worker", "hard hat"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violation if any worker has no nearby hard hat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fall_hazard (rule_2)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"worker", "safety harness"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violation if any worker has no nearby harness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fall_hazard (rule_3)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"worker", "guardrail"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violation if any worker has no nearby guardrail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struck_by_risk (rule_4)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"worker", "excavator"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hazard if a worker IS near an excavator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whichever rule it's assigned to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no violation detected by the checks above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5A5A"/>
                </a:solidFill>
                <a:latin typeface="Calibri"/>
              </a:rPr>
              <a:t>Every row is the same mechanism: detect, don't ask. Florence-2 never sees the words "hazard" or "compliant".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Four Ways to Score a Classifier -- and Why We Use Two of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FOUNDATIONS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468880"/>
                <a:gridCol w="64008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Question it answers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Sensitivity (recall)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TP / (TP + FN)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Of all REAL violations, how many did we catch?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TN / (TN + FP)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Of all REAL compliant images, how many did we correctly clear?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TP / (TP + FP)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Of everything we FLAGGED as a violation, how many really were?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(TP + TN) / 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What fraction of all predictions were correct, overall?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74903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508C"/>
                </a:solidFill>
                <a:latin typeface="Calibri"/>
              </a:rPr>
              <a:t>Why this deck reports only sensitivity and specificity: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500">
                <a:solidFill>
                  <a:srgbClr val="14508C"/>
                </a:solidFill>
                <a:latin typeface="Calibri"/>
              </a:rPr>
              <a:t>Accuracy hides class imbalance:  </a:t>
            </a:r>
            <a:r>
              <a:rPr sz="1500">
                <a:solidFill>
                  <a:srgbClr val="202024"/>
                </a:solidFill>
                <a:latin typeface="Calibri"/>
              </a:rPr>
              <a:t>the v1 proxy scored 97.4% specificity by saying "compliant" almost always. Accuracy alone would have looked deceptively good; sensitivity (3.0%) is what exposed it as broken.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500">
                <a:solidFill>
                  <a:srgbClr val="14508C"/>
                </a:solidFill>
                <a:latin typeface="Calibri"/>
              </a:rPr>
              <a:t>The two error types have different real-world costs:  </a:t>
            </a:r>
            <a:r>
              <a:rPr sz="1500">
                <a:solidFill>
                  <a:srgbClr val="202024"/>
                </a:solidFill>
                <a:latin typeface="Calibri"/>
              </a:rPr>
              <a:t>missing a real hazard (low sensitivity) can hurt someone; a false alarm (low specificity) wastes a supervisor's time. Reporting them separately keeps that distinction visible instead of averaging it away.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500">
                <a:solidFill>
                  <a:srgbClr val="14508C"/>
                </a:solidFill>
                <a:latin typeface="Calibri"/>
              </a:rPr>
              <a:t>Sensitivity/specificity do not depend on the sample's class balance; precision and accuracy do.  </a:t>
            </a:r>
            <a:r>
              <a:rPr sz="1500">
                <a:solidFill>
                  <a:srgbClr val="202024"/>
                </a:solidFill>
                <a:latin typeface="Calibri"/>
              </a:rPr>
              <a:t>This 163-image pilot is deliberately balanced (roughly 50/50/13/50) -- nowhere close to the real ~3% violation rate in the wild. Precision computed on this sample would not carry over to deployment; sensitivity and specificity would.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500">
                <a:solidFill>
                  <a:srgbClr val="14508C"/>
                </a:solidFill>
                <a:latin typeface="Calibri"/>
              </a:rPr>
              <a:t>Consistency with prior work:  </a:t>
            </a:r>
            <a:r>
              <a:rPr sz="1500">
                <a:solidFill>
                  <a:srgbClr val="202024"/>
                </a:solidFill>
                <a:latin typeface="Calibri"/>
              </a:rPr>
              <a:t>this is the same convention Prof. Abdallah's IDS research uses (catching attacks vs. avoiding false alarms).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Actual Numbers: All Four Metrics, Every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5A5A"/>
                </a:solidFill>
                <a:latin typeface="Calibri"/>
              </a:rPr>
              <a:t>Computed directly from the 163-sample confusion matrix (TP / FN / TN / FP), per rule.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0287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94360"/>
                <a:gridCol w="594360"/>
                <a:gridCol w="594360"/>
                <a:gridCol w="594360"/>
                <a:gridCol w="594360"/>
                <a:gridCol w="1417320"/>
                <a:gridCol w="1417320"/>
                <a:gridCol w="1325880"/>
                <a:gridCol w="1325880"/>
              </a:tblGrid>
              <a:tr h="350520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TP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FN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TN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FP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Sensitivity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rule_1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16.0%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69.2%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66.7%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27.0%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rule_2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30.8%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rule_3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40.5%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83.3%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88.2%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51.0%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rule_4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53.3%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52.0%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All rules (pooled)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163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31.0%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66.0%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67.3%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TP = real violation, correctly caught. FN = real violation, missed. TN = real compliant, correctly cleared. FP = real compliant, wrongly flagged.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628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14508C"/>
                </a:solidFill>
                <a:latin typeface="Calibri"/>
              </a:rPr>
              <a:t>rule_1 is the clearest demonstration of the Slide-4 argument, with real numbers:  </a:t>
            </a:r>
            <a:r>
              <a:rPr sz="1400">
                <a:solidFill>
                  <a:srgbClr val="202024"/>
                </a:solidFill>
                <a:latin typeface="Calibri"/>
              </a:rPr>
              <a:t>specificity looks reasonable (69.2%), but accuracy is only 27.0% -- because this rule's natural sample is 50 violations vs. just 13 compliant images, not balanced, and sensitivity is so low (16.0%) that it drags accuracy down with it. Reporting accuracy alone here would have been actively misleading in either direction depending on which number a reader anchored 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14508C"/>
                </a:solidFill>
                <a:latin typeface="Calibri"/>
              </a:rPr>
              <a:t>rule_3 has the best precision (88.2%):  </a:t>
            </a:r>
            <a:r>
              <a:rPr sz="1400">
                <a:solidFill>
                  <a:srgbClr val="202024"/>
                </a:solidFill>
                <a:latin typeface="Calibri"/>
              </a:rPr>
              <a:t>when it says "violation," it is usually right -- but that alone does not mean it is catching most real violations (sensitivity is still only 40.5%). Precision and sensitivity answer different questions and neither can substitute for the other.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14508C"/>
                </a:solidFill>
                <a:latin typeface="Calibri"/>
              </a:rPr>
              <a:t>The pooled "All rules" row is for reference only:  </a:t>
            </a:r>
            <a:r>
              <a:rPr sz="1400">
                <a:solidFill>
                  <a:srgbClr val="202024"/>
                </a:solidFill>
                <a:latin typeface="Calibri"/>
              </a:rPr>
              <a:t>the four rules test physically different things (worn PPE vs. structural barriers vs. proximity), so averaging across them is not a meaningful single headline number -- it is included here only to show the total confusion-matrix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Same Numbers, Rolled Up by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5A5A"/>
                </a:solidFill>
                <a:latin typeface="Calibri"/>
              </a:rPr>
              <a:t>fall_hazard pools rule_2 + rule_3; compliant pools its negative-side counts across all four rules.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088135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874519"/>
                <a:gridCol w="502920"/>
                <a:gridCol w="502920"/>
                <a:gridCol w="502920"/>
                <a:gridCol w="502920"/>
                <a:gridCol w="502920"/>
                <a:gridCol w="1280160"/>
                <a:gridCol w="128016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Rule(s)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TP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FN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TN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FP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Sensitivity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ppe_violation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rule_1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16.0%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69.2%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66.7%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27.0%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fall_hazard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rule_2 + rule_3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38.0%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76.0%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76.0%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50.7%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struck_by_risk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rule_4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61.5%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53.3%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52.0%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all rules, negatives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794760"/>
            <a:ext cx="11247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14508C"/>
                </a:solidFill>
                <a:latin typeface="Calibri"/>
              </a:rPr>
              <a:t>fall_hazard's own numbers differ from either rule alone:  </a:t>
            </a:r>
            <a:r>
              <a:rPr sz="1400">
                <a:solidFill>
                  <a:srgbClr val="202024"/>
                </a:solidFill>
                <a:latin typeface="Calibri"/>
              </a:rPr>
              <a:t>38.0% sensitivity is between rule_2's 30.8% and rule_3's 40.5%, weighted by each rule's real sample size (13 vs. 37 violations) -- this is the number that actually describes the class, not either rule in isolation.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14508C"/>
                </a:solidFill>
                <a:latin typeface="Calibri"/>
              </a:rPr>
              <a:t>compliant has no sensitivity or precision:  </a:t>
            </a:r>
            <a:r>
              <a:rPr sz="1400">
                <a:solidFill>
                  <a:srgbClr val="202024"/>
                </a:solidFill>
                <a:latin typeface="Calibri"/>
              </a:rPr>
              <a:t>it is never the class being detected -- it only ever supplies the negative ("is this really compliant?") side of every other row's test. Its one meaningful number is how often it was correctly cleared: 66.0%, pooled across all four rules -- identical to the "All rules pooled" specificity on the previous slide, since compliant images are that pooled negative set.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14508C"/>
                </a:solidFill>
                <a:latin typeface="Calibri"/>
              </a:rPr>
              <a:t>Reading note:  </a:t>
            </a:r>
            <a:r>
              <a:rPr sz="1400">
                <a:solidFill>
                  <a:srgbClr val="202024"/>
                </a:solidFill>
                <a:latin typeface="Calibri"/>
              </a:rPr>
              <a:t>the 50 compliant images are counted once per row they were tested against (rule_1, rule_2, rule_3, or rule_4), so the n column is not meant to sum to 163 across classes -- each row is its own independent binary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Problems Encountered: Setup and the First Attempt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PROBLEMS ENCOUNTERED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2000"/>
              </a:spcAft>
            </a:pPr>
            <a:r>
              <a:rPr b="1" sz="1700">
                <a:solidFill>
                  <a:srgbClr val="14508C"/>
                </a:solidFill>
                <a:latin typeface="Calibri"/>
              </a:rPr>
              <a:t>Environment issue, before any results existed:  </a:t>
            </a:r>
            <a:r>
              <a:rPr sz="1700">
                <a:solidFill>
                  <a:srgbClr val="202024"/>
                </a:solidFill>
                <a:latin typeface="Calibri"/>
              </a:rPr>
              <a:t> Florence-2's code unconditionally tries to import flash_attn, which has no working Windows build -- loading the model would crash immediately. Fixed with a monkeypatch that strips the import requirement and forces PyTorch's built-in sdpa attention instead. No effect on any number; only on whether the pipeline runs at all.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b="1" sz="1700">
                <a:solidFill>
                  <a:srgbClr val="14508C"/>
                </a:solidFill>
                <a:latin typeface="Calibri"/>
              </a:rPr>
              <a:t>The first version of the proxy did not work:  </a:t>
            </a:r>
            <a:r>
              <a:rPr sz="1700">
                <a:solidFill>
                  <a:srgbClr val="202024"/>
                </a:solidFill>
                <a:latin typeface="Calibri"/>
              </a:rPr>
              <a:t> asking "does a hard hat exist anywhere in the image?" gave 3.0% sensitivity -- effectively a constant "compliant" classifier.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b="1" sz="1700">
                <a:solidFill>
                  <a:srgbClr val="14508C"/>
                </a:solidFill>
                <a:latin typeface="Calibri"/>
              </a:rPr>
              <a:t>Traced to a concrete case, not just a bad average:  </a:t>
            </a:r>
            <a:r>
              <a:rPr sz="1700">
                <a:solidFill>
                  <a:srgbClr val="202024"/>
                </a:solidFill>
                <a:latin typeface="Calibri"/>
              </a:rPr>
              <a:t> image 79 (a real missing-guardrail violation) -- the "guardrail" query matched a piece of wooden formwork that happened to be guardrail-shaped, so the proxy called the scene compliant while the dataset's actual violation was elsewhere in the same photo.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b="1" sz="1700">
                <a:solidFill>
                  <a:srgbClr val="14508C"/>
                </a:solidFill>
                <a:latin typeface="Calibri"/>
              </a:rPr>
              <a:t>Fix and result:  </a:t>
            </a:r>
            <a:r>
              <a:rPr sz="1700">
                <a:solidFill>
                  <a:srgbClr val="202024"/>
                </a:solidFill>
                <a:latin typeface="Calibri"/>
              </a:rPr>
              <a:t> redesigned to a person-relative check (does THIS worker have a nearby safety object) -- sensitivity rose 9x to 27.0%. This is the version all numbers in this deck are built on; the first attempt would not have produced anything worth reporting.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Problems Encountered: Detection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PROBLEMS ENCOUNTERED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A5A5A"/>
                </a:solidFill>
                <a:latin typeface="Calibri"/>
              </a:rPr>
              <a:t>Found by opening individual images behind the numbers, not visible from the summary stats alone: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2000"/>
              </a:spcAft>
            </a:pPr>
            <a:r>
              <a:rPr b="1" sz="1700">
                <a:solidFill>
                  <a:srgbClr val="14508C"/>
                </a:solidFill>
                <a:latin typeface="Calibri"/>
              </a:rPr>
              <a:t>Hallucination when the object is not in the scene:  </a:t>
            </a:r>
            <a:r>
              <a:rPr sz="1700">
                <a:solidFill>
                  <a:srgbClr val="202024"/>
                </a:solidFill>
                <a:latin typeface="Calibri"/>
              </a:rPr>
              <a:t> three separate rules (1, 2, 4), three independent images -- "worker" or "excavator" grounded onto an unrelated vehicle each time, because open-vocabulary detection always returns its best guess, never "not found."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b="1" sz="1700">
                <a:solidFill>
                  <a:srgbClr val="14508C"/>
                </a:solidFill>
                <a:latin typeface="Calibri"/>
              </a:rPr>
              <a:t>Identity mismatch:  </a:t>
            </a:r>
            <a:r>
              <a:rPr sz="1700">
                <a:solidFill>
                  <a:srgbClr val="202024"/>
                </a:solidFill>
                <a:latin typeface="Calibri"/>
              </a:rPr>
              <a:t> the first example picked for rule_1's "works" slide had the hard hat and the worker belonging to two different people standing near each other -- a right answer for the wrong reason, caught and replaced during this review.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b="1" sz="1700">
                <a:solidFill>
                  <a:srgbClr val="14508C"/>
                </a:solidFill>
                <a:latin typeface="Calibri"/>
              </a:rPr>
              <a:t>Category misidentification:  </a:t>
            </a:r>
            <a:r>
              <a:rPr sz="1700">
                <a:solidFill>
                  <a:srgbClr val="202024"/>
                </a:solidFill>
                <a:latin typeface="Calibri"/>
              </a:rPr>
              <a:t> while sourcing clean rule_2 / rule_3 examples, most candidates checked had the detector grounding a real box onto the wrong kind of object -- rigging mistaken for a harness, a dirt slope mistaken for a guardrail.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b="1" sz="1700">
                <a:solidFill>
                  <a:srgbClr val="14508C"/>
                </a:solidFill>
                <a:latin typeface="Calibri"/>
              </a:rPr>
              <a:t>Common thread:  </a:t>
            </a:r>
            <a:r>
              <a:rPr sz="1700">
                <a:solidFill>
                  <a:srgbClr val="202024"/>
                </a:solidFill>
                <a:latin typeface="Calibri"/>
              </a:rPr>
              <a:t> none of these are visible in a sensitivity/specificity table by itself. They only surface by checking what the boxes actually landed on, image by image.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508C"/>
                </a:solidFill>
                <a:latin typeface="Calibri"/>
              </a:rPr>
              <a:t>CLASS WALKTHROUGH 1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202024"/>
                </a:solidFill>
                <a:latin typeface="Calibri"/>
              </a:rPr>
              <a:t>Class 1: ppe_violation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5A5A5A"/>
                </a:solidFill>
                <a:latin typeface="Calibri"/>
              </a:rPr>
              <a:t>rule_1 -- hard hat / hi-vis vest, tight threshold (0.08)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1 Results: ppe_violation (rule_1)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1 -- STATS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1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657600"/>
                <a:gridCol w="3749039"/>
              </a:tblGrid>
              <a:tr h="594360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Sensitivity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v1 -- scene-level existence check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3.0% (3/100, rules 1-3 combined)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97.4%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v2 -- person-relative check (current)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27.0% (27/100, rules 1-3 combined)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73.7%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rule_1 alone (v2)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16.0% (8/50)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69.2% (9/13)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77639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14508C"/>
                </a:solidFill>
                <a:latin typeface="Calibri"/>
              </a:rPr>
              <a:t>Improvement:  </a:t>
            </a:r>
            <a:r>
              <a:rPr sz="1500">
                <a:solidFill>
                  <a:srgbClr val="202024"/>
                </a:solidFill>
                <a:latin typeface="Calibri"/>
              </a:rPr>
              <a:t>sensitivity rose 9x (3.0% -&gt; 27.0%) after the person-relative redesign -- see Class-2 slides for the same fix applied to rule_2/rule_3.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14508C"/>
                </a:solidFill>
                <a:latin typeface="Calibri"/>
              </a:rPr>
              <a:t>Cost:  </a:t>
            </a:r>
            <a:r>
              <a:rPr sz="1500">
                <a:solidFill>
                  <a:srgbClr val="202024"/>
                </a:solidFill>
                <a:latin typeface="Calibri"/>
              </a:rPr>
              <a:t>specificity fell from 97.4% to 73.7% -- expected: a detector that never says "violation" scores high specificity for free.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14508C"/>
                </a:solidFill>
                <a:latin typeface="Calibri"/>
              </a:rPr>
              <a:t>Weakest of the three presence rules:  </a:t>
            </a:r>
            <a:r>
              <a:rPr sz="1500">
                <a:solidFill>
                  <a:srgbClr val="202024"/>
                </a:solidFill>
                <a:latin typeface="Calibri"/>
              </a:rPr>
              <a:t>rule_1 improves least (16.0%), even after the redesign -- small object, easiest to miss.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1: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1 -- EXAMPLE</a:t>
            </a:r>
          </a:p>
        </p:txBody>
      </p:sp>
      <p:pic>
        <p:nvPicPr>
          <p:cNvPr id="4" name="Picture 3" descr="rule1_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814" y="1234440"/>
            <a:ext cx="5380211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645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024"/>
                </a:solidFill>
                <a:latin typeface="Calibri"/>
              </a:rPr>
              <a:t>compliant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286000"/>
            <a:ext cx="1828800" cy="384048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COMPLIANT  [CORRECT]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WHY IT WORKED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200400"/>
            <a:ext cx="4114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Hard hat sits directly on top of THIS same detected worker (0px gap, well inside the 81.9px threshold).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Verified: both boxes belong to the same person, not two different workers standing near each other.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This replaces an earlier example we caught where the worker box and hard-hat box belonged to two different people -- see the Problems slide.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1: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1 -- EXAMPLE</a:t>
            </a:r>
          </a:p>
        </p:txBody>
      </p:sp>
      <p:pic>
        <p:nvPicPr>
          <p:cNvPr id="4" name="Picture 3" descr="rule1_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844" y="1234440"/>
            <a:ext cx="3294151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645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024"/>
                </a:solidFill>
                <a:latin typeface="Calibri"/>
              </a:rPr>
              <a:t>compliant (ground truth)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286000"/>
            <a:ext cx="1828800" cy="384048"/>
          </a:xfrm>
          <a:prstGeom prst="roundRect">
            <a:avLst/>
          </a:prstGeom>
          <a:solidFill>
            <a:srgbClr val="C0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VIOLATION  [PROXY ERROR]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WHAT WENT WRONG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200400"/>
            <a:ext cx="4114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"worker" grounded onto an excavator.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"hard hat" grounded onto a small object near a distant vehicle.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Neither box is a real person or a hard hat -- the distance math ran correctly on nonsense inputs.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1: Other Possible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1 --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202024"/>
                </a:solidFill>
                <a:latin typeface="Calibri"/>
              </a:rPr>
              <a:t>•  Identity mismatch (found while reviewing this deck): the proximity check never confirms the worker box and the hard-hat box belong to the SAME person. In a multi-worker scene, a different, nearby person's hard hat can satisfy the check for an undetected worker who has none.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202024"/>
                </a:solidFill>
                <a:latin typeface="Calibri"/>
              </a:rPr>
              <a:t>•  Single-worker detection ceiling: the "worker" query returns only one box, even in multi-worker scenes -- a real violation on an undetected worker can be missed entirely.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202024"/>
                </a:solidFill>
                <a:latin typeface="Calibri"/>
              </a:rPr>
              <a:t>•  The 0.08 distance threshold was chosen once and never independently stress-tested against camera distance or image resolution.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202024"/>
                </a:solidFill>
                <a:latin typeface="Calibri"/>
              </a:rPr>
              <a:t>•  Area-ranking confound: downstream metrics (masking, stability, completeness) tend to test the worker's whole body box instead of the hard hat, because it's larger.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202024"/>
                </a:solidFill>
                <a:latin typeface="Calibri"/>
              </a:rPr>
              <a:t>•  Worker-loss fallback: perturbing the image can make the worker undetectable, rerouting into a default answer unrelated to the real hazard.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1: Fixes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1 --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8E5A"/>
                </a:solidFill>
                <a:latin typeface="Calibri"/>
              </a:rPr>
              <a:t>CAN BE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Identity check: require the hard-hat box to sit within (or just above) the SAME worker's box, not merely within the global distance threshold -- straightforward geometry, not yet implemented.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Confidence filtering: reject low-confidence detections instead of accepting any box returned.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Plausibility check: a "worker" box shaped like a vehicle (wide, low) can be rejected by simple geometry.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Exhaustive detection tokens (&lt;DENSE_REGION_CAPTION&gt;) to recover multiple workers per scene -- needs validation first.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Rule-aware region ranking so masking tests the hard hat, not the worker's body (already fixed in the scale-up).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03B2E"/>
                </a:solidFill>
                <a:latin typeface="Calibri"/>
              </a:rPr>
              <a:t>CANNOT BE FULLY FIXED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916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Detect-then-judge architecture means Florence-2 never confirms an object is genuinely absent -- it always returns its best guess.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A better detector reduces the error rate; it cannot reduce it to zero within this architecture.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Fully solving this needs a model that can reason "I don't see a worker here" -- i.e. a native-VQA model, not a bigger Florence-2.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508C"/>
                </a:solidFill>
                <a:latin typeface="Calibri"/>
              </a:rPr>
              <a:t>CLASS WALKTHROUGH 2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202024"/>
                </a:solidFill>
                <a:latin typeface="Calibri"/>
              </a:rPr>
              <a:t>Class 2: fall_hazard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5A5A5A"/>
                </a:solidFill>
                <a:latin typeface="Calibri"/>
              </a:rPr>
              <a:t>rule_2 -- harness/lanyard (tight, 0.08)   |   rule_3 -- guardrail (loose, 0.20)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2 Results: fall_hazard (rule_2 + rule_3)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2 -- STATS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2743200"/>
                <a:gridCol w="2560320"/>
              </a:tblGrid>
              <a:tr h="792480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Sensitivity (v2)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Specificity (v2)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rule_2 (harness/lanyard)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30.8% (4/13)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69.2% (9/13)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tight, 0.08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rule_3 (guardrail)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40.5% (15/37)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83.3% (10/12)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loose, 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77639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14508C"/>
                </a:solidFill>
                <a:latin typeface="Calibri"/>
              </a:rPr>
              <a:t>Two mechanisms, one class:  </a:t>
            </a:r>
            <a:r>
              <a:rPr sz="1500">
                <a:solidFill>
                  <a:srgbClr val="202024"/>
                </a:solidFill>
                <a:latin typeface="Calibri"/>
              </a:rPr>
              <a:t>fall_hazard is really two different rules with different thresholds -- worn PPE (rule_2) needs a tight gap; a structural barrier (rule_3) can protect from farther away.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14508C"/>
                </a:solidFill>
                <a:latin typeface="Calibri"/>
              </a:rPr>
              <a:t>Both improved by the same fix:  </a:t>
            </a:r>
            <a:r>
              <a:rPr sz="1500">
                <a:solidFill>
                  <a:srgbClr val="202024"/>
                </a:solidFill>
                <a:latin typeface="Calibri"/>
              </a:rPr>
              <a:t>the v1 -&gt; v2 person-relative redesign (Class 1) applies here too -- part of the combined 3.0% -&gt; 27.0% presence-rule sensitivity gain.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14508C"/>
                </a:solidFill>
                <a:latin typeface="Calibri"/>
              </a:rPr>
              <a:t>rule_3 is the strongest presence rule overall  </a:t>
            </a:r>
            <a:r>
              <a:rPr sz="1500">
                <a:solidFill>
                  <a:srgbClr val="202024"/>
                </a:solidFill>
                <a:latin typeface="Calibri"/>
              </a:rPr>
              <a:t>(40.5% sensitivity, 83.3% specificity) -- its looser threshold is closer in spirit to rule_4's already-working proximity check.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rule_2 (harness):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2 -- EXAMPLE</a:t>
            </a:r>
          </a:p>
        </p:txBody>
      </p:sp>
      <p:pic>
        <p:nvPicPr>
          <p:cNvPr id="4" name="Picture 3" descr="rule2_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67" y="1234440"/>
            <a:ext cx="6107906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645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024"/>
                </a:solidFill>
                <a:latin typeface="Calibri"/>
              </a:rPr>
              <a:t>compliant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286000"/>
            <a:ext cx="1828800" cy="384048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COMPLIANT  [CORRECT]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WHY IT WORKED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200400"/>
            <a:ext cx="4114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A real safety garment (worn on the torso) sits directly on this same detected worker.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Boxes verified to belong to the same person, not a nearby different worker.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Correctly judged as worn -- verdict matches ground truth.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rule_2 (harness):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2 -- EXAMPLE</a:t>
            </a:r>
          </a:p>
        </p:txBody>
      </p:sp>
      <p:pic>
        <p:nvPicPr>
          <p:cNvPr id="4" name="Picture 3" descr="rule2_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671" y="1234440"/>
            <a:ext cx="5564498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645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024"/>
                </a:solidFill>
                <a:latin typeface="Calibri"/>
              </a:rPr>
              <a:t>compliant (no people in scene)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286000"/>
            <a:ext cx="1828800" cy="384048"/>
          </a:xfrm>
          <a:prstGeom prst="roundRect">
            <a:avLst/>
          </a:prstGeom>
          <a:solidFill>
            <a:srgbClr val="C0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VIOLATION  [PROXY ERROR]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WHAT WENT WRONG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200400"/>
            <a:ext cx="4114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No real worker or harness anywhere in this scene.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"worker" grounded onto a dump truck; "harness" grounded onto a bulldozer.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Distance math is correct; the objects it measures between are wrong.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rule_3 (guardrail):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2 -- EXAMPLE</a:t>
            </a:r>
          </a:p>
        </p:txBody>
      </p:sp>
      <p:pic>
        <p:nvPicPr>
          <p:cNvPr id="4" name="Picture 3" descr="rule3_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671" y="1234440"/>
            <a:ext cx="5564498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645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024"/>
                </a:solidFill>
                <a:latin typeface="Calibri"/>
              </a:rPr>
              <a:t>fall_hazard (real violation)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286000"/>
            <a:ext cx="1828800" cy="384048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VIOLATION  [CORRECT]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WHY IT WORKED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200400"/>
            <a:ext cx="4114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A genuine wooden sheet-pile fence is correctly detected lining the excavation edge.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This worker is 557px away from it -- well past the 240px threshold.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Correctly judged as unprotected -- verdict matches ground truth.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rule_3 (guardrail):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2 -- EXAMPLE</a:t>
            </a:r>
          </a:p>
        </p:txBody>
      </p:sp>
      <p:pic>
        <p:nvPicPr>
          <p:cNvPr id="4" name="Picture 3" descr="rule3_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671" y="1234440"/>
            <a:ext cx="5564498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645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024"/>
                </a:solidFill>
                <a:latin typeface="Calibri"/>
              </a:rPr>
              <a:t>fall_hazard (real violation)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286000"/>
            <a:ext cx="1828800" cy="384048"/>
          </a:xfrm>
          <a:prstGeom prst="roundRect">
            <a:avLst/>
          </a:prstGeom>
          <a:solidFill>
            <a:srgbClr val="C0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COMPLIANT  [PROXY ERROR]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WHAT WENT WRONG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200400"/>
            <a:ext cx="4114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A real steel sheet-pile wall is correctly detected nearby (46.8px vs 240px).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But ground truth still calls this a fall hazard.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Being near a barrier-shaped object isn't the same as that barrier actually protecting this worker at this specific edge.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2: Other Possible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2 --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202024"/>
                </a:solidFill>
                <a:latin typeface="Calibri"/>
              </a:rPr>
              <a:t>•  Category misidentification is common, not rare: while sourcing clean examples for this deck, most rule_2/rule_3 candidates had the detector grounding a real box onto the wrong category of object -- rigging mistaken for a harness, a slope edge mistaken for a guardrail. The two examples shown were the exceptions found after checking many candidates, not the typical case.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202024"/>
                </a:solidFill>
                <a:latin typeface="Calibri"/>
              </a:rPr>
              <a:t>•  Same hallucination risk as Class 1: when no harness or guardrail exists in the scene, Florence-2 still returns a box for it.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202024"/>
                </a:solidFill>
                <a:latin typeface="Calibri"/>
              </a:rPr>
              <a:t>•  rule_3's error is subtler still: a genuinely real barrier can be nearby without actually protecting the relevant edge -- a semantic gap, not just a detection error.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202024"/>
                </a:solidFill>
                <a:latin typeface="Calibri"/>
              </a:rPr>
              <a:t>•  The loose 0.20 threshold for rule_3 was chosen once and never independently calibrated against real barrier-to-hazard distances.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202024"/>
                </a:solidFill>
                <a:latin typeface="Calibri"/>
              </a:rPr>
              <a:t>•  Single-worker detection ceiling and the identity-mismatch risk (Class 1) apply to both rule_2 and rule_3 as well.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2: Fixes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2 --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8E5A"/>
                </a:solidFill>
                <a:latin typeface="Calibri"/>
              </a:rPr>
              <a:t>CAN BE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Confidence filtering and plausibility checks, same as Class 1 -- would likely catch a fraction of the category-misidentification cases too.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For rule_3: verify the barrier sits geometrically BETWEEN the worker and the actual edge, not just "somewhere nearby" -- a real, buildable fix.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Concept-vs-synonym separation for rule_2 (harness and lanyard are different objects, already fixed in the scale-up) so rewording tests measure phrasing, not object confusion.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03B2E"/>
                </a:solidFill>
                <a:latin typeface="Calibri"/>
              </a:rPr>
              <a:t>CANNOT BE FULLY FIXED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916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Confirming a barrier functions as protection for THIS worker at THIS edge requires scene understanding beyond box-distance geometry.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That kind of judgment -- "is this really providing protection" -- is a reasoning task, not a detection task.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Best addressed by a native-VQA model that can describe the relationship, not just measure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508C"/>
                </a:solidFill>
                <a:latin typeface="Calibri"/>
              </a:rPr>
              <a:t>CLASS WALKTHROUGH 3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202024"/>
                </a:solidFill>
                <a:latin typeface="Calibri"/>
              </a:rPr>
              <a:t>Class 3: struck_by_risk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5A5A5A"/>
                </a:solidFill>
                <a:latin typeface="Calibri"/>
              </a:rPr>
              <a:t>rule_4 -- worker-to-excavator proximity, INVERTED logic, threshold 0.05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3 Results: struck_by_risk (rule_4)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3 -- STATS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926080"/>
                <a:gridCol w="2834640"/>
              </a:tblGrid>
              <a:tr h="1188720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Sensitivity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v1 / v2 (unchanged -- no redesign needed)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61.5% (8/13)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41.7% (5/12)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77639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14508C"/>
                </a:solidFill>
                <a:latin typeface="Calibri"/>
              </a:rPr>
              <a:t>No redesign needed:  </a:t>
            </a:r>
            <a:r>
              <a:rPr sz="1500">
                <a:solidFill>
                  <a:srgbClr val="202024"/>
                </a:solidFill>
                <a:latin typeface="Calibri"/>
              </a:rPr>
              <a:t>rule_4 was never a scene-level existence check -- it always measured worker-to-excavator distance directly, so it didn't share Class 1/2's v1 failure mode.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14508C"/>
                </a:solidFill>
                <a:latin typeface="Calibri"/>
              </a:rPr>
              <a:t>Strongest sensitivity of all four rules (61.5%)  </a:t>
            </a:r>
            <a:r>
              <a:rPr sz="1500">
                <a:solidFill>
                  <a:srgbClr val="202024"/>
                </a:solidFill>
                <a:latin typeface="Calibri"/>
              </a:rPr>
              <a:t>, but the WEAKEST specificity (41.7%) -- more false hazard alarms than any other rule.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14508C"/>
                </a:solidFill>
                <a:latin typeface="Calibri"/>
              </a:rPr>
              <a:t>Inverted logic:  </a:t>
            </a:r>
            <a:r>
              <a:rPr sz="1500">
                <a:solidFill>
                  <a:srgbClr val="202024"/>
                </a:solidFill>
                <a:latin typeface="Calibri"/>
              </a:rPr>
              <a:t>close = hazard here, not close = compliant. Same geometry as the presence rules, opposite meaning.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14508C"/>
                </a:solidFill>
                <a:latin typeface="Calibri"/>
              </a:rPr>
              <a:t>Smallest, scarcest class:  </a:t>
            </a:r>
            <a:r>
              <a:rPr sz="1500">
                <a:solidFill>
                  <a:srgbClr val="202024"/>
                </a:solidFill>
                <a:latin typeface="Calibri"/>
              </a:rPr>
              <a:t>only 13 images in the 163-sample pilot -- see the Class-4 / scale-up notes on why.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3: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3 -- EXAMPLE</a:t>
            </a:r>
          </a:p>
        </p:txBody>
      </p:sp>
      <p:pic>
        <p:nvPicPr>
          <p:cNvPr id="4" name="Picture 3" descr="rule4_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671" y="1234440"/>
            <a:ext cx="5564498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645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024"/>
                </a:solidFill>
                <a:latin typeface="Calibri"/>
              </a:rPr>
              <a:t>struck_by_risk (real hazard)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286000"/>
            <a:ext cx="1828800" cy="384048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HAZARD  [CORRECT]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WHY IT WORKED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200400"/>
            <a:ext cx="4114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Worker is inside the excavator's blind-spot distance (22.8px vs a 60px threshold).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Proxy verdict matches ground truth.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3: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3 -- EXAMPLE</a:t>
            </a:r>
          </a:p>
        </p:txBody>
      </p:sp>
      <p:pic>
        <p:nvPicPr>
          <p:cNvPr id="4" name="Picture 3" descr="rule4_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844" y="1234440"/>
            <a:ext cx="3294151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645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024"/>
                </a:solidFill>
                <a:latin typeface="Calibri"/>
              </a:rPr>
              <a:t>compliant (no excavator present)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286000"/>
            <a:ext cx="1828800" cy="384048"/>
          </a:xfrm>
          <a:prstGeom prst="roundRect">
            <a:avLst/>
          </a:prstGeom>
          <a:solidFill>
            <a:srgbClr val="C0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HAZARD  [PROXY ERROR]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WHAT WENT WRONG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200400"/>
            <a:ext cx="4114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There is no excavator anywhere in this photo.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"excavator" grounded onto a large blue mechanical fitting instead.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Worker detection is correct; the object it's measured against is not what the rule means.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3: Other Possible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3 --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202024"/>
                </a:solidFill>
                <a:latin typeface="Calibri"/>
              </a:rPr>
              <a:t>•  Third independent instance of the same hallucination pattern already seen in Class 1 and Class 2 -- this is systematic, not a one-off.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202024"/>
                </a:solidFill>
                <a:latin typeface="Calibri"/>
              </a:rPr>
              <a:t>•  Box-edge distance is a simplification of a real blind-spot/swing radius, which is arc-shaped and asymmetric, not a uniform ring around the excavator.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202024"/>
                </a:solidFill>
                <a:latin typeface="Calibri"/>
              </a:rPr>
              <a:t>•  Lowest specificity of any rule (41.7%) -- many compliant scenes get flagged as hazards even before counting hallucination cases.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202024"/>
                </a:solidFill>
                <a:latin typeface="Calibri"/>
              </a:rPr>
              <a:t>•  No distinction between an operator legitimately INSIDE the machine they're running and a bystander caught in its blind spot.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3: Fixes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3 --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8E5A"/>
                </a:solidFill>
                <a:latin typeface="Calibri"/>
              </a:rPr>
              <a:t>CAN BE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Confidence filtering, same as Classes 1 and 2 -- likely the single highest-leverage fix across all three.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Model the danger zone as an arc/sector instead of a uniform box-distance ring -- real engineering, but buildable.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Multi-worker enumeration (D4) would also help rule_4's multi-worker scenes.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03B2E"/>
                </a:solidFill>
                <a:latin typeface="Calibri"/>
              </a:rPr>
              <a:t>CANNOT BE FULLY FIXED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916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Distinguishing "operator of this machine" from "bystander at risk" requires role and context reasoning, not distance measurement.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A pure geometry check has no way to know who is meant to be near the excavator and who isn't.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This is a native-VQA-model problem, not a better-detector problem.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508C"/>
                </a:solidFill>
                <a:latin typeface="Calibri"/>
              </a:rPr>
              <a:t>CLASS WALKTHROUGH 4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202024"/>
                </a:solidFill>
                <a:latin typeface="Calibri"/>
              </a:rPr>
              <a:t>Class 4: compliant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5A5A5A"/>
                </a:solidFill>
                <a:latin typeface="Calibri"/>
              </a:rPr>
              <a:t>No detection logic of its own -- tested against whichever rule it is round-robined to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4 Results: compliant (specificity by rule)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4 -- STATS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5577840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Rule assigned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Specificity (correctly said "no violation")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rule_1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69.2% (9/13)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rule_2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69.2% (9/13)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rule_3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83.3% (10/12)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rule_4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41.7% (5/12)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Combined, rules 1-3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73.7% (28/38)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77639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14508C"/>
                </a:solidFill>
                <a:latin typeface="Calibri"/>
              </a:rPr>
              <a:t>How it's tested:  </a:t>
            </a:r>
            <a:r>
              <a:rPr sz="1500">
                <a:solidFill>
                  <a:srgbClr val="202024"/>
                </a:solidFill>
                <a:latin typeface="Calibri"/>
              </a:rPr>
              <a:t>a compliant image has no natural rule to test against, so the pilot cycles it evenly across all four rules (round-robin) -- roughly 12-13 images per rule.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14508C"/>
                </a:solidFill>
                <a:latin typeface="Calibri"/>
              </a:rPr>
              <a:t>Best case:  </a:t>
            </a:r>
            <a:r>
              <a:rPr sz="1500">
                <a:solidFill>
                  <a:srgbClr val="202024"/>
                </a:solidFill>
                <a:latin typeface="Calibri"/>
              </a:rPr>
              <a:t>rule_3 (83.3%) -- guardrail's loose threshold rarely misfires on a genuinely clear scene.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14508C"/>
                </a:solidFill>
                <a:latin typeface="Calibri"/>
              </a:rPr>
              <a:t>Worst case:  </a:t>
            </a:r>
            <a:r>
              <a:rPr sz="1500">
                <a:solidFill>
                  <a:srgbClr val="202024"/>
                </a:solidFill>
                <a:latin typeface="Calibri"/>
              </a:rPr>
              <a:t>rule_4 (41.7%) -- the same low-specificity pattern seen in Class 3's stats, now visible from the compliant side too.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4: Genuine (Works)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4 -- EXAMPLE</a:t>
            </a:r>
          </a:p>
        </p:txBody>
      </p:sp>
      <p:pic>
        <p:nvPicPr>
          <p:cNvPr id="4" name="Picture 3" descr="compliant_genu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671" y="1234440"/>
            <a:ext cx="5564498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645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024"/>
                </a:solidFill>
                <a:latin typeface="Calibri"/>
              </a:rPr>
              <a:t>compliant (rule_1 assigned)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286000"/>
            <a:ext cx="1828800" cy="384048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COMPLIANT  [CORRECT]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WHY IT WORKED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200400"/>
            <a:ext cx="4114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A real hard hat is visibly worn and correctly detected close to the worker.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A genuine, meaningful compliance check -- the hazard context IS in the picture, and the model verified it correctly.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4: Vacuous ("Fails" Differently)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4 -- EXAMPLE</a:t>
            </a:r>
          </a:p>
        </p:txBody>
      </p:sp>
      <p:pic>
        <p:nvPicPr>
          <p:cNvPr id="4" name="Picture 3" descr="compliant_vacu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671" y="1234440"/>
            <a:ext cx="5564498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645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024"/>
                </a:solidFill>
                <a:latin typeface="Calibri"/>
              </a:rPr>
              <a:t>compliant (rule_2 assigned by round-robin)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286000"/>
            <a:ext cx="1828800" cy="384048"/>
          </a:xfrm>
          <a:prstGeom prst="roundRect">
            <a:avLst/>
          </a:prstGeom>
          <a:solidFill>
            <a:srgbClr val="B88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VACUOUS  [TECHNICALLY CORRECT]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Calibri"/>
              </a:rPr>
              <a:t>WHAT WENT WRONG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200400"/>
            <a:ext cx="4114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Flat, ground-level excavator operation -- no height, no fall risk anywhere in this scene.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The answer is technically correct, but the test proves nothing.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The hazard rule_2 checks for was never present in the picture to begin with.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4: Other Possible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4 --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202024"/>
                </a:solidFill>
                <a:latin typeface="Calibri"/>
              </a:rPr>
              <a:t>•  Round-robin assignment can pair a rule with a scene that has zero relevant context -- the vacuous-test problem shown above.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202024"/>
                </a:solidFill>
                <a:latin typeface="Calibri"/>
              </a:rPr>
              <a:t>•  A "correct" compliant verdict can still ride on a wrong or hallucinated detection (right answer, wrong reasoning) -- the same risk seen in every other class's fail case.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202024"/>
                </a:solidFill>
                <a:latin typeface="Calibri"/>
              </a:rPr>
              <a:t>•  Nothing in the current reported numbers distinguishes a genuinely-verified compliant result from a vacuously-compliant one -- both count the same toward specificity.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4: Fixes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CLASS 4 --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8E5A"/>
                </a:solidFill>
                <a:latin typeface="Calibri"/>
              </a:rPr>
              <a:t>CAN BE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Context-matched assignment: only assign a rule to a compliant image when its hazard context is actually present in the scene (already built in the scale-up, Phase 1.3).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Flag "context_absent" cases separately in reporting instead of blending them into the overall specificity number.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Use the dataset's own scene metadata (illumination, camera distance, quality-of-info fields) to pre-screen ambiguous scenes.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03B2E"/>
                </a:solidFill>
                <a:latin typeface="Calibri"/>
              </a:rPr>
              <a:t>CANNOT BE FULLY FIXED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916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Some scenes have genuinely ambiguous or partial context (e.g. moderate height) that no simple metadata rule will resolve cleanly.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A "right answer for the wrong reason" case is invisible unless every intermediate detection is also audited -- expensive at full scale.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One Pattern, Seen Three Times Independently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202024"/>
                </a:solidFill>
                <a:latin typeface="Calibri"/>
              </a:rPr>
              <a:t>•  Class 1 (rule_1): "worker" grounded onto an excavator when no person was present.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202024"/>
                </a:solidFill>
                <a:latin typeface="Calibri"/>
              </a:rPr>
              <a:t>•  Class 2 (rule_2): "worker" and "harness" both grounded onto vehicles in an empty scene.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202024"/>
                </a:solidFill>
                <a:latin typeface="Calibri"/>
              </a:rPr>
              <a:t>•  Class 3 (rule_4): "excavator" grounded onto an unrelated mechanical fitting.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02024"/>
                </a:solidFill>
                <a:latin typeface="Calibri"/>
              </a:rPr>
              <a:t>Three different rules, three independent images, the same root cause every time: when the queried object genuinely is not in the scene, Florence-2 still has to return something.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Confidence filtering and plausibility checks reduce how often this happens -- but cannot reduce it to zero within this architecture.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202024"/>
                </a:solidFill>
                <a:latin typeface="Calibri"/>
              </a:rPr>
              <a:t>•  This is the central, evidence-backed reason the scale-up plan proposes adding Qwen2.5-VL as a native-VQA comparison (Decision D2) -- a model that can say "I don't see one" instead of being forced to point at something.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Summary: Where Each Class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D6E8"/>
                </a:solidFill>
                <a:latin typeface="Calibri"/>
              </a:rPr>
              <a:t>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737360"/>
                <a:gridCol w="2194560"/>
                <a:gridCol w="4663440"/>
              </a:tblGrid>
              <a:tr h="419100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Class / rule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Sensitivity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Biggest open issue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ppe_violation (rule_1)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16.0%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69.2%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Identity mismatch: proximity check does not confirm same person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fall_hazard (rule_2)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30.8%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Category misidentification common in raw detections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fall_hazard (rule_3)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40.5%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83.3%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Barrier proximity is not the same as barrier protection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struck_by_risk (rule_4)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61.5%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Lowest specificity; danger zone is a box, not a real blind spot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compliant (all rules)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73.7% (rules 1-3)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4"/>
                          </a:solidFill>
                        </a:defRPr>
                      </a:pPr>
                      <a:r>
                        <a:t>Vacuous tests from round-robin rule assignment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7763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508C"/>
                </a:solidFill>
                <a:latin typeface="Calibri"/>
              </a:rPr>
              <a:t>The one finding that matters most: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43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024"/>
                </a:solidFill>
                <a:latin typeface="Calibri"/>
              </a:rPr>
              <a:t>Across independent rules and independent images, the same failure keeps recurring: when the queried object is not genuinely in the scene (or not on the right person), Florence-2 still returns a box, and the geometry downstream cannot tell the difference.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508C"/>
                </a:solidFill>
                <a:latin typeface="Calibri"/>
              </a:rPr>
              <a:t>What to take into the next meeting: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Near-term, buildable fixes: confidence filtering, same-person identity checks, barrier-between-worker-and-edge geometry.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>
                <a:solidFill>
                  <a:srgbClr val="202024"/>
                </a:solidFill>
                <a:latin typeface="Calibri"/>
              </a:rPr>
              <a:t>•  Structural fix, already in the scale-up plan: add Qwen2.5-VL as a native-VQA comparison (Decision D2) to measure how much of this a reasoning model actually resolves.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