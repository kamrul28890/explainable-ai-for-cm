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45720"/>
          </a:xfrm>
          <a:prstGeom prst="rect">
            <a:avLst/>
          </a:prstGeom>
          <a:solidFill>
            <a:srgbClr val="9F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Explainable-AI Evaluation for
Construction-Safety Vision-Language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D8E8F5"/>
                </a:solidFill>
                <a:latin typeface="Calibri"/>
              </a:rPr>
              <a:t>A two-week feasibility pilot — findings, and the case for scale-up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FD8EE"/>
                </a:solidFill>
                <a:latin typeface="Calibri"/>
              </a:rPr>
              <a:t>Research advised by Professor Mustafa Abdallah   ·   Pilot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Does the six-metric XAI framework transfer to a VLM?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Professor Abdallah's framework evaluates black-box explanations along </a:t>
            </a:r>
            <a:r>
              <a:rPr sz="1900" b="1">
                <a:solidFill>
                  <a:srgbClr val="222222"/>
                </a:solidFill>
                <a:latin typeface="Calibri"/>
              </a:rPr>
              <a:t>six metrics</a:t>
            </a:r>
            <a:r>
              <a:rPr sz="1900" b="0">
                <a:solidFill>
                  <a:srgbClr val="222222"/>
                </a:solidFill>
                <a:latin typeface="Calibri"/>
              </a:rPr>
              <a:t>: Descriptive Accuracy, Sparsity, Stability, Efficiency, Robustness, Completeness.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It was built and validated on </a:t>
            </a:r>
            <a:r>
              <a:rPr sz="1900" b="1">
                <a:solidFill>
                  <a:srgbClr val="222222"/>
                </a:solidFill>
                <a:latin typeface="Calibri"/>
              </a:rPr>
              <a:t>tabular network-intrusion-detection DNNs</a:t>
            </a:r>
            <a:r>
              <a:rPr sz="1900" b="0">
                <a:solidFill>
                  <a:srgbClr val="222222"/>
                </a:solidFill>
                <a:latin typeface="Calibri"/>
              </a:rPr>
              <a:t> — where a feature is a scalar column.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</a:t>
            </a:r>
            <a:r>
              <a:rPr sz="1900" b="1">
                <a:solidFill>
                  <a:srgbClr val="222222"/>
                </a:solidFill>
                <a:latin typeface="Calibri"/>
              </a:rPr>
              <a:t>This project:</a:t>
            </a:r>
            <a:r>
              <a:rPr sz="1900" b="0">
                <a:solidFill>
                  <a:srgbClr val="222222"/>
                </a:solidFill>
                <a:latin typeface="Calibri"/>
              </a:rPr>
              <a:t> does that framework survive the move to a Vision-Language Model making visual safety judgments on construction sites — where the input is an image + text and an explanation is a spatial region?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A feasibility pilot is the right instrument: it surfaces the adaptations a full study would otherwise hit the hard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HEADLINE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Yes — with two real adaptations, not zero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237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10972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B7A3D"/>
                </a:solidFill>
                <a:latin typeface="Calibri"/>
              </a:rP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33467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metrics ran end-to-end and produced interpretable 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66160" cy="237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109728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4508C"/>
                </a:solidFill>
                <a:latin typeface="Calibri"/>
              </a:rPr>
              <a:t>9×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291840"/>
            <a:ext cx="33467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sensitivity gain from the mid-pilot proxy redesign (3.0% → 27.0%)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566160" cy="237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66160" cy="10972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28600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B7A3D"/>
                </a:solidFill>
                <a:latin typeface="Calibri"/>
              </a:rPr>
              <a:t>~0.5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291840"/>
            <a:ext cx="33467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GPU-hours for the whole pipeline at n=1,000 — compute is not the blocker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The framework's structure transferred. What did not transfer for free was the assumption that the system already produces a discriminating judgment to explain — that had to be checked and repaired.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six metrics — headline numbers (163 samples)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126480"/>
                <a:gridCol w="2286000"/>
              </a:tblGrid>
              <a:tr h="47287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7287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Descriptive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Masking the top region flips the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87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Visual Sparsity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Top-5-of-576-cell attention mass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0.108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7287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3-run sampled answer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87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Robustness (L1)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Survives blur / low-light / occlusion / contrast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80.7%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7287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Bounded 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Top-region masking is load-bearing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87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Efficiency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 pipeline @ n=1,000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~0.5 GPU-hr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228600" cy="192024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C5D8E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4508C"/>
                </a:solidFill>
                <a:latin typeface="Calibri"/>
              </a:rPr>
              <a:t>Background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The framework, the task, the data, and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six metrics, in one line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Descriptive Accuracy</a:t>
            </a:r>
            <a:r>
              <a:rPr sz="1800" b="0">
                <a:solidFill>
                  <a:srgbClr val="222222"/>
                </a:solidFill>
                <a:latin typeface="Calibri"/>
              </a:rPr>
              <a:t> — remove the explanation region; a faithful one should change the decision.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Sparsity</a:t>
            </a:r>
            <a:r>
              <a:rPr sz="1800" b="0">
                <a:solidFill>
                  <a:srgbClr val="222222"/>
                </a:solidFill>
                <a:latin typeface="Calibri"/>
              </a:rPr>
              <a:t> — is the attribution concentrated (focused) or spread thin (uninformative)?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Stability</a:t>
            </a:r>
            <a:r>
              <a:rPr sz="1800" b="0">
                <a:solidFill>
                  <a:srgbClr val="222222"/>
                </a:solidFill>
                <a:latin typeface="Calibri"/>
              </a:rPr>
              <a:t> — rerun the same input; do the answer and its region stay put?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Robustness</a:t>
            </a:r>
            <a:r>
              <a:rPr sz="1800" b="0">
                <a:solidFill>
                  <a:srgbClr val="222222"/>
                </a:solidFill>
                <a:latin typeface="Calibri"/>
              </a:rPr>
              <a:t> — do answer and explanation survive small, realistic input perturbations?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Completeness</a:t>
            </a:r>
            <a:r>
              <a:rPr sz="1800" b="0">
                <a:solidFill>
                  <a:srgbClr val="222222"/>
                </a:solidFill>
                <a:latin typeface="Calibri"/>
              </a:rPr>
              <a:t> — is the highlighted region actually necessary to the decision?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Efficiency</a:t>
            </a:r>
            <a:r>
              <a:rPr sz="1800" b="0">
                <a:solidFill>
                  <a:srgbClr val="222222"/>
                </a:solidFill>
                <a:latin typeface="Calibri"/>
              </a:rPr>
              <a:t> — is producing all of this computationally affordable at scale?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TRANSFER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From tabular features to image +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Tabular setting (original):</a:t>
            </a:r>
            <a:r>
              <a:rPr sz="1800" b="0">
                <a:solidFill>
                  <a:srgbClr val="222222"/>
                </a:solidFill>
                <a:latin typeface="Calibri"/>
              </a:rPr>
              <a:t> a feature is a scalar; an explanation is a per-feature importance weight; ground truth is a label.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</a:t>
            </a:r>
            <a:r>
              <a:rPr sz="1800" b="1">
                <a:solidFill>
                  <a:srgbClr val="222222"/>
                </a:solidFill>
                <a:latin typeface="Calibri"/>
              </a:rPr>
              <a:t>VLM setting (here):</a:t>
            </a:r>
            <a:r>
              <a:rPr sz="1800" b="0">
                <a:solidFill>
                  <a:srgbClr val="222222"/>
                </a:solidFill>
                <a:latin typeface="Calibri"/>
              </a:rPr>
              <a:t> the input is an image plus a text prompt; an explanation is a spatial region; the model may not even expose an importance signal.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The question is whether the </a:t>
            </a:r>
            <a:r>
              <a:rPr sz="1800" b="1">
                <a:solidFill>
                  <a:srgbClr val="222222"/>
                </a:solidFill>
                <a:latin typeface="Calibri"/>
              </a:rPr>
              <a:t>structure</a:t>
            </a:r>
            <a:r>
              <a:rPr sz="1800" b="0">
                <a:solidFill>
                  <a:srgbClr val="222222"/>
                </a:solidFill>
                <a:latin typeface="Calibri"/>
              </a:rPr>
              <a:t> of each metric survives the move — and, where it doesn't transfer for free, what minimal adaptation restores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Two adaptations turned out to be necessary (covered next). Neither was optional or cosmetic.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ConstructionSite — a safety VLM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10,013 images (3,004-image test split used); each carries annotator-written violation fields for four safety rules.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A balanced 163-image subset was drawn: 50 each for three classes; </a:t>
            </a:r>
            <a:r>
              <a:rPr sz="1700" b="1">
                <a:solidFill>
                  <a:srgbClr val="222222"/>
                </a:solidFill>
                <a:latin typeface="Calibri"/>
              </a:rPr>
              <a:t>struck_by_risk capped at 13</a:t>
            </a:r>
            <a:r>
              <a:rPr sz="1700" b="0">
                <a:solidFill>
                  <a:srgbClr val="222222"/>
                </a:solidFill>
                <a:latin typeface="Calibri"/>
              </a:rPr>
              <a:t> — later shown to be a labeling artifact, not a dataset property.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Ground truth comes from the dataset's own annotations. The model is tested on (a) whether it reaches the same judgment, and (b) whether the region it used is a trustworthy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four safety rules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6949440"/>
              </a:tblGrid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Hazard class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checks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rule_1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ppe_violation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Basic PPE present (hard hat / hi-vis vest)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rule_2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fall_hazard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Fall protection (harness / lanyard) at height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rule_3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fall_hazard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Edge protection (guardrail) at height / edges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rule_4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struck_by_risk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Worker inside excavator blind-spot / swing radius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(none)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Every applicable safety requirement satisfied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8056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rule_2 and rule_3 both map to fall_hazard — two mitigations for one hazard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MODEL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Why Florence-2-base-ft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Lightweight:</a:t>
            </a:r>
            <a:r>
              <a:rPr sz="1700" b="0">
                <a:solidFill>
                  <a:srgbClr val="222222"/>
                </a:solidFill>
                <a:latin typeface="Calibri"/>
              </a:rPr>
              <a:t> 231M params, MIT license, runs on a single 8 GB consumer RTX 3070.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Region-native:</a:t>
            </a:r>
            <a:r>
              <a:rPr sz="1700" b="0">
                <a:solidFill>
                  <a:srgbClr val="222222"/>
                </a:solidFill>
                <a:latin typeface="Calibri"/>
              </a:rPr>
              <a:t> produces bounding boxes directly, so a candidate explanation (a box) falls out of the model without a separate localization step.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The catch:</a:t>
            </a:r>
            <a:r>
              <a:rPr sz="1700" b="0">
                <a:solidFill>
                  <a:srgbClr val="222222"/>
                </a:solidFill>
                <a:latin typeface="Calibri"/>
              </a:rPr>
              <a:t> it has no free-form question-answering task token — so a safety question cannot be asked literally. This forces the central adaptation.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Chosen as a fast first model; a native-VQA model (Qwen2.5-VL) is proposed for the full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228600" cy="192024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C5D8E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4508C"/>
                </a:solidFill>
                <a:latin typeface="Calibri"/>
              </a:rPr>
              <a:t>The Core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Turning a detector into a safety-question answerer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Florence-2 cannot be asked a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Florence-2's task vocabulary is a closed set of tokens (caption, detect, ground) — there is </a:t>
            </a:r>
            <a:r>
              <a:rPr sz="1900" b="1">
                <a:solidFill>
                  <a:srgbClr val="222222"/>
                </a:solidFill>
                <a:latin typeface="Calibri"/>
              </a:rPr>
              <a:t>no token that means 'answer this question.'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So 'Is the worker wearing a hard hat?' cannot be posed directly.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</a:t>
            </a:r>
            <a:r>
              <a:rPr sz="1900" b="1">
                <a:solidFill>
                  <a:srgbClr val="222222"/>
                </a:solidFill>
                <a:latin typeface="Calibri"/>
              </a:rPr>
              <a:t>The workaround:</a:t>
            </a:r>
            <a:r>
              <a:rPr sz="1900" b="0">
                <a:solidFill>
                  <a:srgbClr val="222222"/>
                </a:solidFill>
                <a:latin typeface="Calibri"/>
              </a:rPr>
              <a:t> convert each safety rule into open-vocabulary detection calls, and derive a yes/no answer from whether and where boxes land.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grounding-proxy: detect, then decide geometrically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For a PPE rule: detect </a:t>
            </a:r>
            <a:r>
              <a:rPr sz="1600" b="1">
                <a:solidFill>
                  <a:srgbClr val="222222"/>
                </a:solidFill>
                <a:latin typeface="Calibri"/>
              </a:rPr>
              <a:t>'worker'</a:t>
            </a:r>
            <a:r>
              <a:rPr sz="1600" b="0">
                <a:solidFill>
                  <a:srgbClr val="222222"/>
                </a:solidFill>
                <a:latin typeface="Calibri"/>
              </a:rPr>
              <a:t> boxes and </a:t>
            </a:r>
            <a:r>
              <a:rPr sz="1600" b="1">
                <a:solidFill>
                  <a:srgbClr val="222222"/>
                </a:solidFill>
                <a:latin typeface="Calibri"/>
              </a:rPr>
              <a:t>'hard hat'</a:t>
            </a:r>
            <a:r>
              <a:rPr sz="1600" b="0">
                <a:solidFill>
                  <a:srgbClr val="222222"/>
                </a:solidFill>
                <a:latin typeface="Calibri"/>
              </a:rPr>
              <a:t> boxes separately.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Mark the scene </a:t>
            </a:r>
            <a:r>
              <a:rPr sz="1600" b="1">
                <a:solidFill>
                  <a:srgbClr val="222222"/>
                </a:solidFill>
                <a:latin typeface="Calibri"/>
              </a:rPr>
              <a:t>compliant</a:t>
            </a:r>
            <a:r>
              <a:rPr sz="1600" b="0">
                <a:solidFill>
                  <a:srgbClr val="222222"/>
                </a:solidFill>
                <a:latin typeface="Calibri"/>
              </a:rPr>
              <a:t> only if every detected worker has a nearby safety-object box (a per-worker coverage check).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rule_4 (struck-by) works the same way, checking proximity between 'worker' and 'excavator'.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The region the model grounded becomes the candidate </a:t>
            </a:r>
            <a:r>
              <a:rPr sz="1600" b="1">
                <a:solidFill>
                  <a:srgbClr val="222222"/>
                </a:solidFill>
                <a:latin typeface="Calibri"/>
              </a:rPr>
              <a:t>explanation</a:t>
            </a:r>
            <a:r>
              <a:rPr sz="1600" b="0">
                <a:solidFill>
                  <a:srgbClr val="222222"/>
                </a:solidFill>
                <a:latin typeface="Calibri"/>
              </a:rPr>
              <a:t> the six metrics evaluate.</a:t>
            </a:r>
          </a:p>
        </p:txBody>
      </p:sp>
      <p:pic>
        <p:nvPicPr>
          <p:cNvPr id="7" name="Picture 6" descr="baseline_gro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48790"/>
            <a:ext cx="5212080" cy="3909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5332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A 'hard hat' query correctly localized on a worker's 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first proxy barely worked — the redesign fixed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237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109728"/>
          </a:xfrm>
          <a:prstGeom prst="rect">
            <a:avLst/>
          </a:prstGeom>
          <a:solidFill>
            <a:srgbClr val="B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B30000"/>
                </a:solidFill>
                <a:latin typeface="Calibri"/>
              </a:rPr>
              <a:t>3.0%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33467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sensitivity of v1: 'does a hard hat exist anywhere?' — a near-constant 'compliant' classifier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66160" cy="237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10972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B7A3D"/>
                </a:solidFill>
                <a:latin typeface="Calibri"/>
              </a:rPr>
              <a:t>27.0%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291840"/>
            <a:ext cx="33467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sensitivity of v2: person-relative per-worker coverage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566160" cy="237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66160" cy="109728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28600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4508C"/>
                </a:solidFill>
                <a:latin typeface="Calibri"/>
              </a:rPr>
              <a:t>9×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291840"/>
            <a:ext cx="334670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improvement — the pilot's most consequential 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v1 failed because multi-worker scenes almost always contain SOME hard hat. The fix mirrors the dataset's own per-worker labeling semantics. This was found only by running a sensitivity check the six metrics do not themselves perform.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THE DEEPER 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Florence-2 does not make the safety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Florence-2 only returns </a:t>
            </a:r>
            <a:r>
              <a:rPr sz="1700" b="1">
                <a:solidFill>
                  <a:srgbClr val="222222"/>
                </a:solidFill>
                <a:latin typeface="Calibri"/>
              </a:rPr>
              <a:t>boxes</a:t>
            </a:r>
            <a:r>
              <a:rPr sz="1700" b="0">
                <a:solidFill>
                  <a:srgbClr val="222222"/>
                </a:solidFill>
                <a:latin typeface="Calibri"/>
              </a:rPr>
              <a:t>. The compliant/violation answer is computed by our own </a:t>
            </a:r>
            <a:r>
              <a:rPr sz="1700" b="1">
                <a:solidFill>
                  <a:srgbClr val="222222"/>
                </a:solidFill>
                <a:latin typeface="Calibri"/>
              </a:rPr>
              <a:t>hand-written geometric code</a:t>
            </a:r>
            <a:r>
              <a:rPr sz="1700" b="0">
                <a:solidFill>
                  <a:srgbClr val="222222"/>
                </a:solidFill>
                <a:latin typeface="Calibri"/>
              </a:rPr>
              <a:t> (per-worker coverage within a fixed pixel-distance threshold).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Consequence:</a:t>
            </a:r>
            <a:r>
              <a:rPr sz="1700" b="0">
                <a:solidFill>
                  <a:srgbClr val="222222"/>
                </a:solidFill>
                <a:latin typeface="Calibri"/>
              </a:rPr>
              <a:t> several metrics partly measure the sensitivity of that geometric proxy, not the model's own reasoning.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Example: mask the hard-hat box → the object list empties → the coverage check returns 'violation' </a:t>
            </a:r>
            <a:r>
              <a:rPr sz="1700" b="1">
                <a:solidFill>
                  <a:srgbClr val="222222"/>
                </a:solidFill>
                <a:latin typeface="Calibri"/>
              </a:rPr>
              <a:t>by construction</a:t>
            </a:r>
            <a:r>
              <a:rPr sz="1700" b="0">
                <a:solidFill>
                  <a:srgbClr val="222222"/>
                </a:solidFill>
                <a:latin typeface="Calibri"/>
              </a:rPr>
              <a:t>, regardless of what the model 'thinks.'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This is the single most important reason to add a native-VQA model in the full study</a:t>
            </a:r>
            <a:r>
              <a:rPr sz="1700" b="0">
                <a:solidFill>
                  <a:srgbClr val="222222"/>
                </a:solidFill>
                <a:latin typeface="Calibri"/>
              </a:rPr>
              <a:t> — so the metrics measure the model, not the scaffolding.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228600" cy="192024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C5D8E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4508C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evaluation pipeline,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Setup → sample selection → baseline grounding inference → region standardization → five per-sample metrics + efficiency → bounded completeness → cross-metric summary.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Region standardization</a:t>
            </a:r>
            <a:r>
              <a:rPr sz="1700" b="0">
                <a:solidFill>
                  <a:srgbClr val="222222"/>
                </a:solidFill>
                <a:latin typeface="Calibri"/>
              </a:rPr>
              <a:t> is the hinge: it ranks candidate boxes into an ordered list and provides the masking primitive every later metric consumes.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Because every masking-based metric consumes this one layer, a single choice made here — how to rank candidate regions — propagates into several metrics at once.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That fact becomes the pilot's central cross-cutting finding (Section 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MASKING PRIMITIVE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Region standardization + masking, verified visually</a:t>
            </a:r>
          </a:p>
        </p:txBody>
      </p:sp>
      <p:pic>
        <p:nvPicPr>
          <p:cNvPr id="6" name="Picture 5" descr="region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325880"/>
            <a:ext cx="524256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Before: top-ranked region outlined.</a:t>
            </a:r>
          </a:p>
        </p:txBody>
      </p:sp>
      <p:pic>
        <p:nvPicPr>
          <p:cNvPr id="8" name="Picture 7" descr="region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325880"/>
            <a:ext cx="524256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After: that region masked (black-fill) for re-inference.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11292840" cy="5669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The masking primitive blacks out exactly the ranked region and nothing else — checked before any metric relies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228600" cy="192024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C5D8E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4508C"/>
                </a:solidFill>
                <a:latin typeface="Calibri"/>
              </a:rPr>
              <a:t>The Six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Method, results, and what each one revealed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DESCRIPTIVE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Method — a deletion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Mask the top-ranked region, re-run the proxy, and check whether the answer flips.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A genuinely load-bearing region should be capable of flipping the decision when removed.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Run twice per sample: mask top-1, then mask top-1 + top-2 cumulatively.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DESCRIPTIVE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Result: 36.2% top-1 flip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1">
                <a:solidFill>
                  <a:srgbClr val="222222"/>
                </a:solidFill>
                <a:latin typeface="Calibri"/>
              </a:rPr>
              <a:t>36.2%</a:t>
            </a:r>
            <a:r>
              <a:rPr sz="1600" b="0">
                <a:solidFill>
                  <a:srgbClr val="222222"/>
                </a:solidFill>
                <a:latin typeface="Calibri"/>
              </a:rPr>
              <a:t> of samples flip when the top region is masked (35.0% for top-1+2).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Clean case (right): masking the excavator box removes half of a proximity check and flips hazard → safe — exactly what the metric should detect.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1">
                <a:solidFill>
                  <a:srgbClr val="222222"/>
                </a:solidFill>
                <a:latin typeface="Calibri"/>
              </a:rPr>
              <a:t>Weakness:</a:t>
            </a:r>
            <a:r>
              <a:rPr sz="1600" b="0">
                <a:solidFill>
                  <a:srgbClr val="222222"/>
                </a:solidFill>
                <a:latin typeface="Calibri"/>
              </a:rPr>
              <a:t> the metric is confounded by the proxy it sits on — rules whose proxy barely discriminates have little for masking to disrupt.</a:t>
            </a:r>
          </a:p>
        </p:txBody>
      </p:sp>
      <p:pic>
        <p:nvPicPr>
          <p:cNvPr id="7" name="Picture 6" descr="da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48790"/>
            <a:ext cx="5212080" cy="39090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5332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Masking the top region flips the judgment for a reason that tracks the safety concept.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DESCRIPTIVE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non-monotonicity anomaly — a diagnostic, not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Masking </a:t>
            </a:r>
            <a:r>
              <a:rPr sz="1700" b="1">
                <a:solidFill>
                  <a:srgbClr val="222222"/>
                </a:solidFill>
                <a:latin typeface="Calibri"/>
              </a:rPr>
              <a:t>more</a:t>
            </a:r>
            <a:r>
              <a:rPr sz="1700" b="0">
                <a:solidFill>
                  <a:srgbClr val="222222"/>
                </a:solidFill>
                <a:latin typeface="Calibri"/>
              </a:rPr>
              <a:t> (top-1+2 = 35.0%) flipped </a:t>
            </a:r>
            <a:r>
              <a:rPr sz="1700" b="1">
                <a:solidFill>
                  <a:srgbClr val="222222"/>
                </a:solidFill>
                <a:latin typeface="Calibri"/>
              </a:rPr>
              <a:t>less</a:t>
            </a:r>
            <a:r>
              <a:rPr sz="1700" b="0">
                <a:solidFill>
                  <a:srgbClr val="222222"/>
                </a:solidFill>
                <a:latin typeface="Calibri"/>
              </a:rPr>
              <a:t> than masking top-1 alone (36.2%). This should be impossible for a clean deletion test.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Traced to a specific mechanism: masking the worker box makes the worker undetectable, which reroutes the proxy into a </a:t>
            </a:r>
            <a:r>
              <a:rPr sz="1700" b="1">
                <a:solidFill>
                  <a:srgbClr val="222222"/>
                </a:solidFill>
                <a:latin typeface="Calibri"/>
              </a:rPr>
              <a:t>degenerate scene-level fallback branch.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The answer then depends only on whether the other box is still visible — a binary, non-monotonic dependency.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Lesson (generalizable):</a:t>
            </a:r>
            <a:r>
              <a:rPr sz="1700" b="0">
                <a:solidFill>
                  <a:srgbClr val="222222"/>
                </a:solidFill>
                <a:latin typeface="Calibri"/>
              </a:rPr>
              <a:t> watch for non-monotonic masking results as a signature of hidden fallback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VISUAL SPARSITY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Method — and a verified course-correction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Goal: is the model's attribution concentrated (focused) or spread thin?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Planned method — </a:t>
            </a:r>
            <a:r>
              <a:rPr sz="1700" b="1">
                <a:solidFill>
                  <a:srgbClr val="222222"/>
                </a:solidFill>
                <a:latin typeface="Calibri"/>
              </a:rPr>
              <a:t>attention rollout</a:t>
            </a:r>
            <a:r>
              <a:rPr sz="1700" b="0">
                <a:solidFill>
                  <a:srgbClr val="222222"/>
                </a:solidFill>
                <a:latin typeface="Calibri"/>
              </a:rPr>
              <a:t> — assumes a single-modality encoder. Florence-2 fuses image + text tokens in one shared self-attention stack, so rollout's precondition fails.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Verified against the model's own code </a:t>
            </a:r>
            <a:r>
              <a:rPr sz="1700" b="1">
                <a:solidFill>
                  <a:srgbClr val="222222"/>
                </a:solidFill>
                <a:latin typeface="Calibri"/>
              </a:rPr>
              <a:t>before</a:t>
            </a:r>
            <a:r>
              <a:rPr sz="1700" b="0">
                <a:solidFill>
                  <a:srgbClr val="222222"/>
                </a:solidFill>
                <a:latin typeface="Calibri"/>
              </a:rPr>
              <a:t> writing wrong code; substituted </a:t>
            </a:r>
            <a:r>
              <a:rPr sz="1700" b="1">
                <a:solidFill>
                  <a:srgbClr val="222222"/>
                </a:solidFill>
                <a:latin typeface="Calibri"/>
              </a:rPr>
              <a:t>decoder→encoder cross-attention</a:t>
            </a:r>
            <a:r>
              <a:rPr sz="1700" b="0">
                <a:solidFill>
                  <a:srgbClr val="222222"/>
                </a:solidFill>
                <a:latin typeface="Calibri"/>
              </a:rPr>
              <a:t>, which needs no single-modality assumption.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This kind of architecture-first verification is exactly what a transformer-native XAI method demands.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VISUAL SPARSITY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Result 0.108 — but concentration mostly tracks object SIZE</a:t>
            </a:r>
          </a:p>
        </p:txBody>
      </p:sp>
      <p:pic>
        <p:nvPicPr>
          <p:cNvPr id="6" name="Picture 5" descr="sparsity_foc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325880"/>
            <a:ext cx="524256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Small hard hat: sharp, concentrated hotspot (looks 'focused').</a:t>
            </a:r>
          </a:p>
        </p:txBody>
      </p:sp>
      <p:pic>
        <p:nvPicPr>
          <p:cNvPr id="8" name="Picture 7" descr="sparsity_scatt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325880"/>
            <a:ext cx="524256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Large guardrail: attention spread across the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11292840" cy="5669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Correlation between object size and concentration is −0.70. A small object looks 'focused' by construction — cross-rule sparsity comparisons are invalid without a size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Method — avoiding a vacuous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Florence-2's default decoding is deterministic — literal reruns would be </a:t>
            </a:r>
            <a:r>
              <a:rPr sz="1700" b="1">
                <a:solidFill>
                  <a:srgbClr val="222222"/>
                </a:solidFill>
                <a:latin typeface="Calibri"/>
              </a:rPr>
              <a:t>100% stable by construction</a:t>
            </a:r>
            <a:r>
              <a:rPr sz="1700" b="0">
                <a:solidFill>
                  <a:srgbClr val="222222"/>
                </a:solidFill>
                <a:latin typeface="Calibri"/>
              </a:rPr>
              <a:t> (a vacuous result).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Fix: rerun 3× under </a:t>
            </a:r>
            <a:r>
              <a:rPr sz="1700" b="1">
                <a:solidFill>
                  <a:srgbClr val="222222"/>
                </a:solidFill>
                <a:latin typeface="Calibri"/>
              </a:rPr>
              <a:t>stochastic sampling</a:t>
            </a:r>
            <a:r>
              <a:rPr sz="1700" b="0">
                <a:solidFill>
                  <a:srgbClr val="222222"/>
                </a:solidFill>
                <a:latin typeface="Calibri"/>
              </a:rPr>
              <a:t> and confirm non-vacuousness (answer agreement 0.775, not 1.0) before trusting any number.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Measure both answer agreement and region overlap across reruns.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 healthy top-region score hid an unstable safety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Headline object-box overlap </a:t>
            </a:r>
            <a:r>
              <a:rPr sz="1500" b="1">
                <a:solidFill>
                  <a:srgbClr val="222222"/>
                </a:solidFill>
                <a:latin typeface="Calibri"/>
              </a:rPr>
              <a:t>0.602</a:t>
            </a:r>
            <a:r>
              <a:rPr sz="1500" b="0">
                <a:solidFill>
                  <a:srgbClr val="222222"/>
                </a:solidFill>
                <a:latin typeface="Calibri"/>
              </a:rPr>
              <a:t>. But the top-region overlap (0.667) mostly measured the </a:t>
            </a:r>
            <a:r>
              <a:rPr sz="1500" b="1">
                <a:solidFill>
                  <a:srgbClr val="222222"/>
                </a:solidFill>
                <a:latin typeface="Calibri"/>
              </a:rPr>
              <a:t>worker</a:t>
            </a:r>
            <a:r>
              <a:rPr sz="1500" b="0">
                <a:solidFill>
                  <a:srgbClr val="222222"/>
                </a:solidFill>
                <a:latin typeface="Calibri"/>
              </a:rPr>
              <a:t> box (area-ranking again).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The actual safety object is far less stable: hard hat </a:t>
            </a:r>
            <a:r>
              <a:rPr sz="1500" b="1">
                <a:solidFill>
                  <a:srgbClr val="222222"/>
                </a:solidFill>
                <a:latin typeface="Calibri"/>
              </a:rPr>
              <a:t>0.499</a:t>
            </a:r>
            <a:r>
              <a:rPr sz="1500" b="0">
                <a:solidFill>
                  <a:srgbClr val="222222"/>
                </a:solidFill>
                <a:latin typeface="Calibri"/>
              </a:rPr>
              <a:t> vs excavator </a:t>
            </a:r>
            <a:r>
              <a:rPr sz="1500" b="1">
                <a:solidFill>
                  <a:srgbClr val="222222"/>
                </a:solidFill>
                <a:latin typeface="Calibri"/>
              </a:rPr>
              <a:t>0.922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nearly 2×.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Right: three reruns' large top boxes overlay almost perfectly; the small hard-hat box underneath moves a lot.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Partly genuine, partly the </a:t>
            </a:r>
            <a:r>
              <a:rPr sz="1500" b="1">
                <a:solidFill>
                  <a:srgbClr val="222222"/>
                </a:solidFill>
                <a:latin typeface="Calibri"/>
              </a:rPr>
              <a:t>IoU size bias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small boxes lose overlap from a few pixels of jitter.</a:t>
            </a:r>
          </a:p>
        </p:txBody>
      </p:sp>
      <p:pic>
        <p:nvPicPr>
          <p:cNvPr id="7" name="Picture 6" descr="stability_re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48790"/>
            <a:ext cx="5212080" cy="39090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5332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Three stochastic reruns overlaid.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Method — isolating perturbation from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Four image perturbations (blur, low-light, occlusion, contrast) + prompt rewording.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Run under </a:t>
            </a:r>
            <a:r>
              <a:rPr sz="1700" b="1">
                <a:solidFill>
                  <a:srgbClr val="222222"/>
                </a:solidFill>
                <a:latin typeface="Calibri"/>
              </a:rPr>
              <a:t>deterministic decoding</a:t>
            </a:r>
            <a:r>
              <a:rPr sz="1700" b="0">
                <a:solidFill>
                  <a:srgbClr val="222222"/>
                </a:solidFill>
                <a:latin typeface="Calibri"/>
              </a:rPr>
              <a:t>, so any change is attributable to the perturbation, not to sampling noise.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Record four signals per rerun: answer changed, confidence drop, evidence-box drift (IoU), and whether the worker detection was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Result: answer-change rate by perturbation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2560320"/>
                <a:gridCol w="3474720"/>
              </a:tblGrid>
              <a:tr h="4724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Perturbation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 changed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Evidence-box IoU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Reading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contrast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low light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11.7%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mild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blur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disruptive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reworded prompt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27.5%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0.333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disruptive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occlude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disruptive (+ 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8056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Level-1 answer survival overall: 80.7%. But 'blur, occlude, reword are equally disruptive' hides three different mechanisms.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ROBUSTNESS — CENTERPIECE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 stable answer hiding a fully-drifted explanation</a:t>
            </a:r>
          </a:p>
        </p:txBody>
      </p:sp>
      <p:pic>
        <p:nvPicPr>
          <p:cNvPr id="6" name="Picture 5" descr="drif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325880"/>
            <a:ext cx="524256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Before: the worker's evidence box, fully visible.</a:t>
            </a:r>
          </a:p>
        </p:txBody>
      </p:sp>
      <p:pic>
        <p:nvPicPr>
          <p:cNvPr id="8" name="Picture 7" descr="drif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325880"/>
            <a:ext cx="524256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After occlusion: answer UNCHANGED, but evidence box relocated (IoU 0.005).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11292840" cy="5669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28.3% of stable-answer cases hide this. An answer-level metric alone would certify them as perfectly robust — direct proof that answer-level metrics are necessary but NOT sufficient.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fallback artifact — a flip for the wrong reason</a:t>
            </a:r>
          </a:p>
        </p:txBody>
      </p:sp>
      <p:pic>
        <p:nvPicPr>
          <p:cNvPr id="6" name="Picture 5" descr="occlude_fallback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325880"/>
            <a:ext cx="524256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Before: both detections already wrong but pass the geometric check.</a:t>
            </a:r>
          </a:p>
        </p:txBody>
      </p:sp>
      <p:pic>
        <p:nvPicPr>
          <p:cNvPr id="8" name="Picture 7" descr="occlude_fallback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325880"/>
            <a:ext cx="524256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After occlude: both vanish; answer flips via the fallback branch.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11292840" cy="5669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Same mechanism as the descriptive-accuracy anomaly — now triggered by perturbation. Raw robustness over-counts genuine failures unless these are separated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ROBUSTNESS — STRETCH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Adversarial patch: a plausibility probe, not a result</a:t>
            </a:r>
          </a:p>
        </p:txBody>
      </p:sp>
      <p:pic>
        <p:nvPicPr>
          <p:cNvPr id="6" name="Picture 5" descr="patch_ontarge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8790"/>
            <a:ext cx="54864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On-target synthetic hard-hat patch → did NOT fool the model.</a:t>
            </a:r>
          </a:p>
        </p:txBody>
      </p:sp>
      <p:pic>
        <p:nvPicPr>
          <p:cNvPr id="8" name="Picture 7" descr="patch_offtarget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325880"/>
            <a:ext cx="524256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27608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Off-target patch (torso) → DID flip to 'compliant'.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11292840" cy="56692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Denominator corrected from 15% (3/20) to 75% (3/4 meaningful cases). n=4 is too small to claim a vulnerability — flagged for a properly powered study.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BOUNDED COMPLETENESS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Method — is the top region necessary?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A necessity test: does removing the top region force the model to change its answer?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Built as a roll-up over the descriptive-accuracy signal (so the two are </a:t>
            </a:r>
            <a:r>
              <a:rPr sz="1700" b="1">
                <a:solidFill>
                  <a:srgbClr val="222222"/>
                </a:solidFill>
                <a:latin typeface="Calibri"/>
              </a:rPr>
              <a:t>not</a:t>
            </a:r>
            <a:r>
              <a:rPr sz="1700" b="0">
                <a:solidFill>
                  <a:srgbClr val="222222"/>
                </a:solidFill>
                <a:latin typeface="Calibri"/>
              </a:rPr>
              <a:t> independent confirmations).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Headline: </a:t>
            </a:r>
            <a:r>
              <a:rPr sz="1700" b="1">
                <a:solidFill>
                  <a:srgbClr val="222222"/>
                </a:solidFill>
                <a:latin typeface="Calibri"/>
              </a:rPr>
              <a:t>43.6% supported</a:t>
            </a:r>
            <a:r>
              <a:rPr sz="1700" b="0">
                <a:solidFill>
                  <a:srgbClr val="222222"/>
                </a:solidFill>
                <a:latin typeface="Calibri"/>
              </a:rPr>
              <a:t>, 54.0% weak, 2.5% no-usable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BOUNDED COMPLETENESS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Rigor: an extra 159-rerun check caught an 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The by-rule pattern is the clearest single measurement of the </a:t>
            </a:r>
            <a:r>
              <a:rPr sz="1500" b="1">
                <a:solidFill>
                  <a:srgbClr val="222222"/>
                </a:solidFill>
                <a:latin typeface="Calibri"/>
              </a:rPr>
              <a:t>area-ranking confound</a:t>
            </a:r>
            <a:r>
              <a:rPr sz="1500" b="0">
                <a:solidFill>
                  <a:srgbClr val="222222"/>
                </a:solidFill>
                <a:latin typeface="Calibri"/>
              </a:rPr>
              <a:t>: PPE rules (small object) score weakest.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An extra 159-rerun check found a </a:t>
            </a:r>
            <a:r>
              <a:rPr sz="1500" b="1">
                <a:solidFill>
                  <a:srgbClr val="222222"/>
                </a:solidFill>
                <a:latin typeface="Calibri"/>
              </a:rPr>
              <a:t>worker-fallback artifact</a:t>
            </a:r>
            <a:r>
              <a:rPr sz="1500" b="0">
                <a:solidFill>
                  <a:srgbClr val="222222"/>
                </a:solidFill>
                <a:latin typeface="Calibri"/>
              </a:rPr>
              <a:t> inflating the number, correcting 43.6% → 41.7%.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Right: 'worker' and 'harness' boxes are nearly identical, so masking one erases both — the flip is a fallback, not genuine necessity.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This kind of self-correction is what a full study should </a:t>
            </a:r>
            <a:r>
              <a:rPr sz="1500" b="1">
                <a:solidFill>
                  <a:srgbClr val="222222"/>
                </a:solidFill>
                <a:latin typeface="Calibri"/>
              </a:rPr>
              <a:t>standardize</a:t>
            </a:r>
            <a:r>
              <a:rPr sz="1500" b="0">
                <a:solidFill>
                  <a:srgbClr val="222222"/>
                </a:solidFill>
                <a:latin typeface="Calibri"/>
              </a:rPr>
              <a:t>, not perform ad-hoc.</a:t>
            </a:r>
          </a:p>
        </p:txBody>
      </p:sp>
      <p:pic>
        <p:nvPicPr>
          <p:cNvPr id="7" name="Picture 6" descr="completeness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39594"/>
            <a:ext cx="5212080" cy="29274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5332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Masking the top region erases both boxes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Compute is conclusively not the obstacle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Full six-metric pipeline: </a:t>
            </a:r>
            <a:r>
              <a:rPr sz="1600" b="1">
                <a:solidFill>
                  <a:srgbClr val="222222"/>
                </a:solidFill>
                <a:latin typeface="Calibri"/>
              </a:rPr>
              <a:t>~0.5 GPU-hours at n=1,000</a:t>
            </a:r>
            <a:r>
              <a:rPr sz="1600" b="0">
                <a:solidFill>
                  <a:srgbClr val="222222"/>
                </a:solidFill>
                <a:latin typeface="Calibri"/>
              </a:rPr>
              <a:t> on a single RTX 3070 (~30 minutes).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Every other issue in this pilot is about </a:t>
            </a:r>
            <a:r>
              <a:rPr sz="1600" b="1">
                <a:solidFill>
                  <a:srgbClr val="222222"/>
                </a:solidFill>
                <a:latin typeface="Calibri"/>
              </a:rPr>
              <a:t>validity, not cost.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Methodological note: per-sample cost must be normalized by the number of internal model calls before comparing stages.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Caveat: this budget is for the current pipeline; gradient attribution or dense detection would change it.</a:t>
            </a:r>
          </a:p>
        </p:txBody>
      </p:sp>
      <p:pic>
        <p:nvPicPr>
          <p:cNvPr id="7" name="Picture 6" descr="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14154"/>
            <a:ext cx="5212080" cy="29783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5332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Per-sample inference cost by pipeline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228600" cy="192024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C5D8EA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4508C"/>
                </a:solidFill>
                <a:latin typeface="Calibri"/>
              </a:rPr>
              <a:t>Cross-Cutting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Several 'separate' weaknesses are one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FINDING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One region-ranking choice weakens three metrics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Candidate regions are ranked by </a:t>
            </a:r>
            <a:r>
              <a:rPr sz="1700" b="1">
                <a:solidFill>
                  <a:srgbClr val="222222"/>
                </a:solidFill>
                <a:latin typeface="Calibri"/>
              </a:rPr>
              <a:t>box area</a:t>
            </a:r>
            <a:r>
              <a:rPr sz="1700" b="0">
                <a:solidFill>
                  <a:srgbClr val="222222"/>
                </a:solidFill>
                <a:latin typeface="Calibri"/>
              </a:rPr>
              <a:t> as a stand-in for importance (no true saliency signal exists).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A worker's body box is almost always larger than the PPE item, so the </a:t>
            </a:r>
            <a:r>
              <a:rPr sz="1700" b="1">
                <a:solidFill>
                  <a:srgbClr val="222222"/>
                </a:solidFill>
                <a:latin typeface="Calibri"/>
              </a:rPr>
              <a:t>worker is ranked first in 96%</a:t>
            </a:r>
            <a:r>
              <a:rPr sz="1700" b="0">
                <a:solidFill>
                  <a:srgbClr val="222222"/>
                </a:solidFill>
                <a:latin typeface="Calibri"/>
              </a:rPr>
              <a:t> of PPE samples.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So descriptive accuracy, stability, and completeness all end up testing the </a:t>
            </a:r>
            <a:r>
              <a:rPr sz="1700" b="1">
                <a:solidFill>
                  <a:srgbClr val="222222"/>
                </a:solidFill>
                <a:latin typeface="Calibri"/>
              </a:rPr>
              <a:t>worker, not the hard hat</a:t>
            </a:r>
            <a:r>
              <a:rPr sz="1700" b="0">
                <a:solidFill>
                  <a:srgbClr val="222222"/>
                </a:solidFill>
                <a:latin typeface="Calibri"/>
              </a:rPr>
              <a:t> — precisely on the rules the project cares about most.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This is the single highest-leverage fix:</a:t>
            </a:r>
            <a:r>
              <a:rPr sz="1700" b="0">
                <a:solidFill>
                  <a:srgbClr val="222222"/>
                </a:solidFill>
                <a:latin typeface="Calibri"/>
              </a:rPr>
              <a:t> rank by the rule's queried object class before area. No new model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FINDING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 fallback branch recurs across three different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Masking or perturbing the worker can make it undetectable, rerouting the proxy into a degenerate scene-level branch that flips the answer for reasons unrelated to safety.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The </a:t>
            </a:r>
            <a:r>
              <a:rPr sz="1700" b="1">
                <a:solidFill>
                  <a:srgbClr val="222222"/>
                </a:solidFill>
                <a:latin typeface="Calibri"/>
              </a:rPr>
              <a:t>same mechanism</a:t>
            </a:r>
            <a:r>
              <a:rPr sz="1700" b="0">
                <a:solidFill>
                  <a:srgbClr val="222222"/>
                </a:solidFill>
                <a:latin typeface="Calibri"/>
              </a:rPr>
              <a:t> appears under deliberate masking (Descriptive Accuracy), under perturbation (Robustness), and inside the Completeness check.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Found, traced to a specific code branch, and quantified each time — not left as unexplained noise.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</a:t>
            </a:r>
            <a:r>
              <a:rPr sz="1700" b="1">
                <a:solidFill>
                  <a:srgbClr val="222222"/>
                </a:solidFill>
                <a:latin typeface="Calibri"/>
              </a:rPr>
              <a:t>Fix:</a:t>
            </a:r>
            <a:r>
              <a:rPr sz="1700" b="0">
                <a:solidFill>
                  <a:srgbClr val="222222"/>
                </a:solidFill>
                <a:latin typeface="Calibri"/>
              </a:rPr>
              <a:t> bake a worker-loss correction into every metric; report genuine vs raw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FINDING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Object size confounds two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Both </a:t>
            </a:r>
            <a:r>
              <a:rPr sz="1800" b="1">
                <a:solidFill>
                  <a:srgbClr val="222222"/>
                </a:solidFill>
                <a:latin typeface="Calibri"/>
              </a:rPr>
              <a:t>sparsity</a:t>
            </a:r>
            <a:r>
              <a:rPr sz="1800" b="0">
                <a:solidFill>
                  <a:srgbClr val="222222"/>
                </a:solidFill>
                <a:latin typeface="Calibri"/>
              </a:rPr>
              <a:t> (attention concentration) and </a:t>
            </a:r>
            <a:r>
              <a:rPr sz="1800" b="1">
                <a:solidFill>
                  <a:srgbClr val="222222"/>
                </a:solidFill>
                <a:latin typeface="Calibri"/>
              </a:rPr>
              <a:t>stability</a:t>
            </a:r>
            <a:r>
              <a:rPr sz="1800" b="0">
                <a:solidFill>
                  <a:srgbClr val="222222"/>
                </a:solidFill>
                <a:latin typeface="Calibri"/>
              </a:rPr>
              <a:t> (IoU overlap) are mathematically size-sensitive.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Small, body-worn PPE items score worst — partly for </a:t>
            </a:r>
            <a:r>
              <a:rPr sz="1800" b="1">
                <a:solidFill>
                  <a:srgbClr val="222222"/>
                </a:solidFill>
                <a:latin typeface="Calibri"/>
              </a:rPr>
              <a:t>geometric reasons, not explanation quality.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This must be controlled (size-invariant metrics) before comparing PPE rules to large-object rules — and it may even inflate the robustness centerpiece, which also uses IoU.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FINDING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model does not make the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Florence-2 only returns boxes; a </a:t>
            </a:r>
            <a:r>
              <a:rPr sz="1900" b="1">
                <a:solidFill>
                  <a:srgbClr val="222222"/>
                </a:solidFill>
                <a:latin typeface="Calibri"/>
              </a:rPr>
              <a:t>geometric rule</a:t>
            </a:r>
            <a:r>
              <a:rPr sz="1900" b="0">
                <a:solidFill>
                  <a:srgbClr val="222222"/>
                </a:solidFill>
                <a:latin typeface="Calibri"/>
              </a:rPr>
              <a:t> produces the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So some metrics measure the </a:t>
            </a:r>
            <a:r>
              <a:rPr sz="1900" b="1">
                <a:solidFill>
                  <a:srgbClr val="222222"/>
                </a:solidFill>
                <a:latin typeface="Calibri"/>
              </a:rPr>
              <a:t>proxy</a:t>
            </a:r>
            <a:r>
              <a:rPr sz="1900" b="0">
                <a:solidFill>
                  <a:srgbClr val="222222"/>
                </a:solidFill>
                <a:latin typeface="Calibri"/>
              </a:rPr>
              <a:t>, not the model — the deepest reason to add a native-VQA model in the full study.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This reframes the scale-up goal: not 'run more samples,' but 'make the metrics measure the model's reasoning.'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All six metrics, side by side, by hazard class</a:t>
            </a:r>
          </a:p>
        </p:txBody>
      </p:sp>
      <p:pic>
        <p:nvPicPr>
          <p:cNvPr id="6" name="Picture 5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325880"/>
            <a:ext cx="10460736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99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The single figure that most compactly carries the pilot's quantitative content. struck_by_risk rests on n=13 — directional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pipeline reproduces from scratch — and testing it found a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Re-run from a clean checkout in a brand-new environment on a fresh 20-sample subset: every step exited cleanly, zero manual intervention.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Because it ran at a </a:t>
            </a:r>
            <a:r>
              <a:rPr sz="1700" b="1">
                <a:solidFill>
                  <a:srgbClr val="222222"/>
                </a:solidFill>
                <a:latin typeface="Calibri"/>
              </a:rPr>
              <a:t>different sample size</a:t>
            </a:r>
            <a:r>
              <a:rPr sz="1700" b="0">
                <a:solidFill>
                  <a:srgbClr val="222222"/>
                </a:solidFill>
                <a:latin typeface="Calibri"/>
              </a:rPr>
              <a:t>, it exposed a real bug — chart labels hardcoded to the pilot's sample counts — that every prior run had masked.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It also hit a transient dataset-streaming error (auto-recovered), which validated moving the full study to a </a:t>
            </a:r>
            <a:r>
              <a:rPr sz="1700" b="1">
                <a:solidFill>
                  <a:srgbClr val="222222"/>
                </a:solidFill>
                <a:latin typeface="Calibri"/>
              </a:rPr>
              <a:t>locally cached</a:t>
            </a:r>
            <a:r>
              <a:rPr sz="1700" b="0">
                <a:solidFill>
                  <a:srgbClr val="222222"/>
                </a:solidFill>
                <a:latin typeface="Calibri"/>
              </a:rPr>
              <a:t> dataset — now implemented.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228600" cy="192024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C5D8EA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4508C"/>
                </a:solidFill>
                <a:latin typeface="Calibri"/>
              </a:rPr>
              <a:t>Limitations &amp; Scale-Up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Honest constraints, and the plan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Honest limitations (the full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1">
                <a:solidFill>
                  <a:srgbClr val="222222"/>
                </a:solidFill>
                <a:latin typeface="Calibri"/>
              </a:rPr>
              <a:t>Scale:</a:t>
            </a:r>
            <a:r>
              <a:rPr sz="1600" b="0">
                <a:solidFill>
                  <a:srgbClr val="222222"/>
                </a:solidFill>
                <a:latin typeface="Calibri"/>
              </a:rPr>
              <a:t> 163 of 3,004 test images; single model; single GPU.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1">
                <a:solidFill>
                  <a:srgbClr val="222222"/>
                </a:solidFill>
                <a:latin typeface="Calibri"/>
              </a:rPr>
              <a:t>struck_by_risk = 13 is a labeling artifact</a:t>
            </a:r>
            <a:r>
              <a:rPr sz="1600" b="0">
                <a:solidFill>
                  <a:srgbClr val="222222"/>
                </a:solidFill>
                <a:latin typeface="Calibri"/>
              </a:rPr>
              <a:t>, not a dataset property — the mutually-exclusive priority scheme discarded real struck-by images; the true multi-label pool is ~70.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1">
                <a:solidFill>
                  <a:srgbClr val="222222"/>
                </a:solidFill>
                <a:latin typeface="Calibri"/>
              </a:rPr>
              <a:t>The proxy, not the model, makes the judgment</a:t>
            </a:r>
            <a:r>
              <a:rPr sz="1600" b="0">
                <a:solidFill>
                  <a:srgbClr val="222222"/>
                </a:solidFill>
                <a:latin typeface="Calibri"/>
              </a:rPr>
              <a:t> — so some metrics partly measure geometric-rule sensitivity.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Ranking by area; single-worker detection; hardcoded 2D thresholds; bounded (not full) completeness; Level-1 (+partial L2) robustness; uncalibrated confidence proxy; n=4 adversarial probe; fragmented decoding.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SCALE-UP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The plan is phased — foundations before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Phase 1 — Foundational fixes:</a:t>
            </a:r>
            <a:r>
              <a:rPr sz="1500" b="0">
                <a:solidFill>
                  <a:srgbClr val="222222"/>
                </a:solidFill>
                <a:latin typeface="Calibri"/>
              </a:rPr>
              <a:t> rule-aware ranking; multi-label labeling (recovers struck_by_risk); bake in worker-loss correction; split rule_2 concepts; unify decoding. Cheap, high-leverage.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Phase 2 — Metric validity:</a:t>
            </a:r>
            <a:r>
              <a:rPr sz="1500" b="0">
                <a:solidFill>
                  <a:srgbClr val="222222"/>
                </a:solidFill>
                <a:latin typeface="Calibri"/>
              </a:rPr>
              <a:t> size-invariant sparsity &amp; stability; text-token ablation; robustness severity sweeps; multi-hazard completeness.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Phase 3 — Reproducibility &amp; stats:</a:t>
            </a:r>
            <a:r>
              <a:rPr sz="1500" b="0">
                <a:solidFill>
                  <a:srgbClr val="222222"/>
                </a:solidFill>
                <a:latin typeface="Calibri"/>
              </a:rPr>
              <a:t> containerize; multi-seed; minimum-n + significance tests; programmatic report numbers.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Phase 4 — Attribution:</a:t>
            </a:r>
            <a:r>
              <a:rPr sz="1500" b="0">
                <a:solidFill>
                  <a:srgbClr val="222222"/>
                </a:solidFill>
                <a:latin typeface="Calibri"/>
              </a:rPr>
              <a:t> keep cross-attention, add integrated gradients as a corroborating second stream.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Do NOT scale sample count until Phase 1 is validated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scaling a biased pipeline just yields a larger biased sample.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Phase 5 — models &amp; datasets (recommended)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1">
                <a:solidFill>
                  <a:srgbClr val="222222"/>
                </a:solidFill>
                <a:latin typeface="Calibri"/>
              </a:rPr>
              <a:t>Models (3):</a:t>
            </a:r>
            <a:r>
              <a:rPr sz="1600" b="0">
                <a:solidFill>
                  <a:srgbClr val="222222"/>
                </a:solidFill>
                <a:latin typeface="Calibri"/>
              </a:rPr>
              <a:t> Florence-2 (region-native baseline) · </a:t>
            </a:r>
            <a:r>
              <a:rPr sz="1600" b="1">
                <a:solidFill>
                  <a:srgbClr val="222222"/>
                </a:solidFill>
                <a:latin typeface="Calibri"/>
              </a:rPr>
              <a:t>Qwen2.5-VL</a:t>
            </a:r>
            <a:r>
              <a:rPr sz="1600" b="0">
                <a:solidFill>
                  <a:srgbClr val="222222"/>
                </a:solidFill>
                <a:latin typeface="Calibri"/>
              </a:rPr>
              <a:t> (native-VQA — run both same-proxy AND native-VQA comparisons, so the metrics measure model faithfulness) · one frontier model as a benchmark-only reference.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</a:t>
            </a:r>
            <a:r>
              <a:rPr sz="1600" b="1">
                <a:solidFill>
                  <a:srgbClr val="222222"/>
                </a:solidFill>
                <a:latin typeface="Calibri"/>
              </a:rPr>
              <a:t>Datasets (3):</a:t>
            </a:r>
            <a:r>
              <a:rPr sz="1600" b="0">
                <a:solidFill>
                  <a:srgbClr val="222222"/>
                </a:solidFill>
                <a:latin typeface="Calibri"/>
              </a:rPr>
              <a:t> ConstructionSite scaled to the full split · </a:t>
            </a:r>
            <a:r>
              <a:rPr sz="1600" b="1">
                <a:solidFill>
                  <a:srgbClr val="222222"/>
                </a:solidFill>
                <a:latin typeface="Calibri"/>
              </a:rPr>
              <a:t>SODA</a:t>
            </a:r>
            <a:r>
              <a:rPr sz="1600" b="0">
                <a:solidFill>
                  <a:srgbClr val="222222"/>
                </a:solidFill>
                <a:latin typeface="Calibri"/>
              </a:rPr>
              <a:t> for out-of-distribution robustness · </a:t>
            </a:r>
            <a:r>
              <a:rPr sz="1600" b="1">
                <a:solidFill>
                  <a:srgbClr val="222222"/>
                </a:solidFill>
                <a:latin typeface="Calibri"/>
              </a:rPr>
              <a:t>CMA</a:t>
            </a:r>
            <a:r>
              <a:rPr sz="1600" b="0">
                <a:solidFill>
                  <a:srgbClr val="222222"/>
                </a:solidFill>
                <a:latin typeface="Calibri"/>
              </a:rPr>
              <a:t> for temporal explanation-stability over video — a genuinely novel contribution.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This is the difference between 'we scaled the pilot' and 'we fixed the confound a top reviewer will find.'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FD8EE"/>
                </a:solidFill>
                <a:latin typeface="Calibri"/>
              </a:rP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Six decisions we'd value your judgment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1. Attribution method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is decoder→encoder cross-attention an acceptable LRP/DeepLIFT stand-in, or is a transformer-native method required?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2. Statistical rigor at small n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minimum-n and which test/interval, especially for struck_by_risk.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3. Region-ranking fix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approve replacing area ranking with rule-aware ranking.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4. Scaling vs imbalance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full-dataset scaling, or fix the class imbalance first?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5. Adversarial study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scope/budget for a properly powered Level-3 patch study.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</a:t>
            </a:r>
            <a:r>
              <a:rPr sz="1500" b="1">
                <a:solidFill>
                  <a:srgbClr val="222222"/>
                </a:solidFill>
                <a:latin typeface="Calibri"/>
              </a:rPr>
              <a:t>6. rule_2 prompt</a:t>
            </a:r>
            <a:r>
              <a:rPr sz="1500" b="0">
                <a:solidFill>
                  <a:srgbClr val="222222"/>
                </a:solidFill>
                <a:latin typeface="Calibri"/>
              </a:rPr>
              <a:t> — treat 'harness' and 'lanyard' as two distinct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Construction-VLM XAI  ·  Pilot findings &amp; scale-up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5A5A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45720"/>
          </a:xfrm>
          <a:prstGeom prst="rect">
            <a:avLst/>
          </a:prstGeom>
          <a:solidFill>
            <a:srgbClr val="9FC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D8E8F5"/>
                </a:solidFill>
                <a:latin typeface="Calibri"/>
              </a:rPr>
              <a:t>The framework transfers — and the pilot produced an evidence-backed plan
to make the metrics measure the model's reasoning,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FD8EE"/>
                </a:solidFill>
                <a:latin typeface="Calibri"/>
              </a:rPr>
              <a:t>Discussion &amp; the six decisions   ·   Research advised by Professor Mustafa Abdallah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